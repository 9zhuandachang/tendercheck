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4" r:id="rId4"/>
    <p:sldId id="259" r:id="rId5"/>
    <p:sldId id="265" r:id="rId6"/>
    <p:sldId id="266" r:id="rId7"/>
    <p:sldId id="262" r:id="rId8"/>
    <p:sldId id="268" r:id="rId9"/>
    <p:sldId id="263" r:id="rId10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project proposal.docx, page 1. Present TenderCheck as an AI-assisted review system. Emphasize that the system supports reviewers and does not replace final human confirmation.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project proposal.docx, page 2. The market value and pricing model are hypotheses. The team still needs interviews and a pilot to measure time savings and willingness to pay.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project proposal.docx, page 4. The team plans to train a lightweight clause classifier. It will reuse a pretrained language model for structured extraction and explanation. Training a large language model from scratch is outside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project proposal.docx, pages 9 and 10. The planned final deadline is 25 October 2026 at 23:59, subject to confirmation in Canvas. Data permission, parsing gaps and hallucination controls are core project risks.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Close by restating the project scope: TenderCheck links each review conclusion to evidence and keeps the human reviewer in control.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666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notesSlide" Target="../notesSlides/notesSlide3.xml"/><Relationship Id="rId2" Type="http://schemas.openxmlformats.org/officeDocument/2006/relationships/tags" Target="../tags/tag2.xml"/><Relationship Id="rId16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44450"/>
            <a:ext cx="7239000" cy="6804660"/>
          </a:xfrm>
          <a:prstGeom prst="rect">
            <a:avLst/>
          </a:prstGeom>
          <a:solidFill>
            <a:srgbClr val="071827">
              <a:alpha val="80000"/>
            </a:srgbClr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66750" y="819150"/>
            <a:ext cx="3810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350" b="1">
                <a:solidFill>
                  <a:srgbClr val="28B8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8B8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PROJECT PROPOSAL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66750" y="1700530"/>
            <a:ext cx="571500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5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TenderCheck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2247900"/>
            <a:ext cx="5619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400" b="1">
                <a:solidFill>
                  <a:srgbClr val="DCECF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2400" b="1">
              <a:solidFill>
                <a:srgbClr val="DCECF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95325" y="3357245"/>
            <a:ext cx="5619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00" b="0">
                <a:solidFill>
                  <a:srgbClr val="B9CED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zh-CN">
                <a:solidFill>
                  <a:srgbClr val="B9CEDA"/>
                </a:solidFill>
                <a:latin typeface="微软雅黑" panose="020B0503020204020204" charset="-122"/>
              </a:rPr>
              <a:t>Evidence-Based Tender Compliance Review</a:t>
            </a:r>
            <a:r>
              <a:rPr lang="en-US" altLang="zh-CN">
                <a:solidFill>
                  <a:srgbClr val="B9CEDA"/>
                </a:solidFill>
                <a:latin typeface="微软雅黑" panose="020B0503020204020204" charset="-122"/>
              </a:rPr>
              <a:t> System</a:t>
            </a:r>
            <a:endParaRPr sz="1800" b="0">
              <a:solidFill>
                <a:srgbClr val="B9CED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8000"/>
              </a:lnSpc>
              <a:buNone/>
              <a:defRPr sz="1800" b="0">
                <a:solidFill>
                  <a:srgbClr val="B9CED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800" b="0">
              <a:solidFill>
                <a:srgbClr val="B9CED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8000"/>
              </a:lnSpc>
              <a:buNone/>
              <a:defRPr sz="1800" b="0">
                <a:solidFill>
                  <a:srgbClr val="B9CED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b="0">
                <a:solidFill>
                  <a:srgbClr val="B9CED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 Jianxiang, Tang Xiongjie, Qi Junnan</a:t>
            </a:r>
          </a:p>
          <a:p>
            <a:pPr algn="l">
              <a:lnSpc>
                <a:spcPct val="108000"/>
              </a:lnSpc>
              <a:buNone/>
              <a:defRPr sz="1800" b="0">
                <a:solidFill>
                  <a:srgbClr val="B9CED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b="0">
                <a:solidFill>
                  <a:srgbClr val="B9CED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Guo Zichun, Wang Zhengyuan</a:t>
            </a:r>
          </a:p>
        </p:txBody>
      </p:sp>
      <p:sp>
        <p:nvSpPr>
          <p:cNvPr id="7" name="直接连接符 6"/>
          <p:cNvSpPr>
            <a:spLocks noGrp="1"/>
          </p:cNvSpPr>
          <p:nvPr/>
        </p:nvSpPr>
        <p:spPr>
          <a:xfrm>
            <a:off x="685800" y="3857625"/>
            <a:ext cx="4762500" cy="0"/>
          </a:xfrm>
          <a:prstGeom prst="line">
            <a:avLst/>
          </a:prstGeom>
          <a:noFill/>
          <a:ln w="28575">
            <a:solidFill>
              <a:srgbClr val="28B8CF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85800" y="6191250"/>
            <a:ext cx="4953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125" b="0">
                <a:solidFill>
                  <a:srgbClr val="AFC3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AFC3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NUS-ISS Intelligent Reasoning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>
            <a:spLocks noGrp="1"/>
          </p:cNvSpPr>
          <p:nvPr/>
        </p:nvSpPr>
        <p:spPr>
          <a:xfrm>
            <a:off x="609600" y="400050"/>
            <a:ext cx="10477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Problem and Business Opportunity</a:t>
            </a:r>
          </a:p>
        </p:txBody>
      </p:sp>
      <p:sp>
        <p:nvSpPr>
          <p:cNvPr id="2" name="圆角矩形 1"/>
          <p:cNvSpPr>
            <a:spLocks noGrp="1"/>
          </p:cNvSpPr>
          <p:nvPr/>
        </p:nvSpPr>
        <p:spPr>
          <a:xfrm>
            <a:off x="609600" y="1028700"/>
            <a:ext cx="723900" cy="47625"/>
          </a:xfrm>
          <a:prstGeom prst="roundRect">
            <a:avLst>
              <a:gd name="adj" fmla="val 40000"/>
            </a:avLst>
          </a:prstGeom>
          <a:solidFill>
            <a:srgbClr val="28B8C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11144250" y="457200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350" b="1">
                <a:solidFill>
                  <a:srgbClr val="2E6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E6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57225" y="1324665"/>
            <a:ext cx="5619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175" b="1">
                <a:solidFill>
                  <a:srgbClr val="12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2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Manual cross-checking creates a costly review bottleneck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2313802"/>
            <a:ext cx="5191125" cy="2114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marL="228600" indent="-101600">
              <a:spcAft>
                <a:spcPts val="1300"/>
              </a:spcAft>
              <a:buChar char="•"/>
              <a:defRPr sz="1725">
                <a:solidFill>
                  <a:srgbClr val="1427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>
                <a:solidFill>
                  <a:srgbClr val="1427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Tender packages combine instructions, specifications, schedules and addenda</a:t>
            </a:r>
          </a:p>
          <a:p>
            <a:pPr marL="228600" indent="-101600">
              <a:spcAft>
                <a:spcPts val="1300"/>
              </a:spcAft>
              <a:buChar char="•"/>
              <a:defRPr sz="1725">
                <a:solidFill>
                  <a:srgbClr val="1427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>
                <a:solidFill>
                  <a:srgbClr val="1427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Teams must compare every requirement with the current bid response</a:t>
            </a:r>
          </a:p>
          <a:p>
            <a:pPr marL="228600" indent="-101600">
              <a:spcAft>
                <a:spcPts val="1300"/>
              </a:spcAft>
              <a:buChar char="•"/>
              <a:defRPr sz="1725">
                <a:solidFill>
                  <a:srgbClr val="1427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>
                <a:solidFill>
                  <a:srgbClr val="1427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Reviewers can miss mandatory documents, deadlines and conflicting commitments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57225" y="4675229"/>
            <a:ext cx="1809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200" b="1">
                <a:solidFill>
                  <a:srgbClr val="2E6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E6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PRIMARY USERS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57225" y="4980029"/>
            <a:ext cx="485775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buNone/>
              <a:defRPr sz="1725" b="1">
                <a:solidFill>
                  <a:srgbClr val="1427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427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Tender coordinators and engineers</a:t>
            </a:r>
          </a:p>
          <a:p>
            <a:pPr algn="l">
              <a:lnSpc>
                <a:spcPct val="115000"/>
              </a:lnSpc>
              <a:buNone/>
              <a:defRPr sz="1725" b="1">
                <a:solidFill>
                  <a:srgbClr val="1427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427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Bid and estimation managers</a:t>
            </a: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6362700" y="1276350"/>
            <a:ext cx="5219700" cy="704850"/>
          </a:xfrm>
          <a:prstGeom prst="roundRect">
            <a:avLst>
              <a:gd name="adj" fmla="val 18919"/>
            </a:avLst>
          </a:prstGeom>
          <a:solidFill>
            <a:srgbClr val="DFF5F8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553199" y="1376633"/>
            <a:ext cx="3726129" cy="26166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1">
                <a:solidFill>
                  <a:srgbClr val="2E6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zh-CN" sz="2180" b="1">
                <a:solidFill>
                  <a:srgbClr val="2E6F9E"/>
                </a:solidFill>
                <a:latin typeface="微软雅黑" panose="020B0503020204020204" charset="-122"/>
              </a:rPr>
              <a:t>Validation Approach</a:t>
            </a:r>
            <a:endParaRPr sz="2180" b="1">
              <a:solidFill>
                <a:srgbClr val="2E6F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467922" y="2443433"/>
            <a:ext cx="4114929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lvl="0"/>
            <a:r>
              <a:rPr lang="zh-CN" altLang="zh-CN" b="1"/>
              <a:t>Open-source dataset</a:t>
            </a:r>
            <a:r>
              <a:rPr lang="zh-CN" altLang="zh-CN"/>
              <a:t>: Quantitative testing on public contract/clause datasets to evaluate precision, recall, and detection accuracy.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E893F47-0205-ADD5-48A4-59C76F03707A}"/>
              </a:ext>
            </a:extLst>
          </p:cNvPr>
          <p:cNvSpPr txBox="1"/>
          <p:nvPr/>
        </p:nvSpPr>
        <p:spPr>
          <a:xfrm>
            <a:off x="6362700" y="4399599"/>
            <a:ext cx="609702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/>
            <a:r>
              <a:rPr lang="zh-CN" altLang="zh-CN" sz="1800" b="1" i="0">
                <a:solidFill>
                  <a:schemeClr val="tx1"/>
                </a:solidFill>
                <a:effectLst/>
                <a:latin typeface="+mn-lt"/>
              </a:rPr>
              <a:t>Real-world tender packages</a:t>
            </a:r>
            <a:r>
              <a:rPr lang="zh-CN" altLang="zh-CN" sz="1800" b="0" i="0">
                <a:solidFill>
                  <a:schemeClr val="tx1"/>
                </a:solidFill>
                <a:effectLst/>
                <a:latin typeface="+mn-lt"/>
              </a:rPr>
              <a:t>: End-to-end validation on full engineering tender documents to verify the complete review &amp; remediation loop.</a:t>
            </a:r>
            <a:endParaRPr lang="zh-CN" altLang="zh-CN" sz="1050" b="0" i="0">
              <a:solidFill>
                <a:srgbClr val="CCCCCC"/>
              </a:solidFill>
              <a:effectLst/>
              <a:latin typeface="system-u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96000" y="420000"/>
            <a:ext cx="10400000" cy="5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B1F33"/>
                </a:solidFill>
                <a:latin typeface="Microsoft YaHei"/>
              </a:defRPr>
            </a:pPr>
            <a:r>
              <a:t>User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96000" y="1050000"/>
            <a:ext cx="720000" cy="42000"/>
          </a:xfrm>
          <a:prstGeom prst="rect">
            <a:avLst/>
          </a:prstGeom>
          <a:solidFill>
            <a:srgbClr val="28B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50000" y="450000"/>
            <a:ext cx="438150" cy="2667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2E6F9E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6000" y="1400000"/>
            <a:ext cx="3000000" cy="17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6000" y="1550000"/>
            <a:ext cx="2600000" cy="1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8B8CF"/>
                </a:solidFill>
                <a:latin typeface="Microsoft YaHei"/>
              </a:defRPr>
            </a:pPr>
            <a:r>
              <a:t>01</a:t>
            </a:r>
          </a:p>
          <a:p>
            <a:pPr>
              <a:spcBef>
                <a:spcPts val="400"/>
              </a:spcBef>
              <a:defRPr sz="1800" b="1">
                <a:solidFill>
                  <a:srgbClr val="0B1F33"/>
                </a:solidFill>
                <a:latin typeface="Microsoft YaHei"/>
              </a:defRPr>
            </a:pPr>
            <a:r>
              <a:t>Upload Documents</a:t>
            </a:r>
          </a:p>
          <a:p>
            <a:pPr>
              <a:spcBef>
                <a:spcPts val="600"/>
              </a:spcBef>
              <a:defRPr sz="1350">
                <a:solidFill>
                  <a:srgbClr val="526474"/>
                </a:solidFill>
                <a:latin typeface="Microsoft YaHei"/>
              </a:defRPr>
            </a:pPr>
            <a:r>
              <a:t>Tender, addenda and bid PDFs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96000" y="1400000"/>
            <a:ext cx="3000000" cy="17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96000" y="1550000"/>
            <a:ext cx="2600000" cy="1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8B8CF"/>
                </a:solidFill>
                <a:latin typeface="Microsoft YaHei"/>
              </a:defRPr>
            </a:pPr>
            <a:r>
              <a:t>02</a:t>
            </a:r>
          </a:p>
          <a:p>
            <a:pPr>
              <a:spcBef>
                <a:spcPts val="400"/>
              </a:spcBef>
              <a:defRPr sz="1800" b="1">
                <a:solidFill>
                  <a:srgbClr val="0B1F33"/>
                </a:solidFill>
                <a:latin typeface="Microsoft YaHei"/>
              </a:defRPr>
            </a:pPr>
            <a:r>
              <a:t>Automated Inspection</a:t>
            </a:r>
          </a:p>
          <a:p>
            <a:pPr>
              <a:spcBef>
                <a:spcPts val="600"/>
              </a:spcBef>
              <a:defRPr sz="1350">
                <a:solidFill>
                  <a:srgbClr val="526474"/>
                </a:solidFill>
                <a:latin typeface="Microsoft YaHei"/>
              </a:defRPr>
            </a:pPr>
            <a:r>
              <a:t>Clause classification, RAG retrieval, rule checks.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96000" y="1400000"/>
            <a:ext cx="3000000" cy="17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96000" y="1550000"/>
            <a:ext cx="2600000" cy="1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8B8CF"/>
                </a:solidFill>
                <a:latin typeface="Microsoft YaHei"/>
              </a:defRPr>
            </a:pPr>
            <a:r>
              <a:t>05</a:t>
            </a:r>
          </a:p>
          <a:p>
            <a:pPr>
              <a:spcBef>
                <a:spcPts val="400"/>
              </a:spcBef>
              <a:defRPr sz="1800" b="1">
                <a:solidFill>
                  <a:srgbClr val="0B1F33"/>
                </a:solidFill>
                <a:latin typeface="Microsoft YaHei"/>
              </a:defRPr>
            </a:pPr>
            <a:r>
              <a:t>Sign-off &amp; Export</a:t>
            </a:r>
          </a:p>
          <a:p>
            <a:pPr>
              <a:spcBef>
                <a:spcPts val="600"/>
              </a:spcBef>
              <a:defRPr sz="1350">
                <a:solidFill>
                  <a:srgbClr val="526474"/>
                </a:solidFill>
                <a:latin typeface="Microsoft YaHei"/>
              </a:defRPr>
            </a:pPr>
            <a:r>
              <a:t>Final sign-off, export compliance matrix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6000" y="3700000"/>
            <a:ext cx="3000000" cy="1700000"/>
          </a:xfrm>
          <a:prstGeom prst="roundRect">
            <a:avLst/>
          </a:prstGeom>
          <a:solidFill>
            <a:srgbClr val="F1F5F8"/>
          </a:solidFill>
          <a:ln w="15875">
            <a:solidFill>
              <a:srgbClr val="9EB5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000" y="3850000"/>
            <a:ext cx="2600000" cy="1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E6F9E"/>
                </a:solidFill>
                <a:latin typeface="Microsoft YaHei"/>
              </a:defRPr>
            </a:pPr>
            <a:r>
              <a:t>ENTERPRISE ASSET</a:t>
            </a:r>
          </a:p>
          <a:p>
            <a:pPr>
              <a:spcBef>
                <a:spcPts val="400"/>
              </a:spcBef>
              <a:defRPr sz="1800" b="1">
                <a:solidFill>
                  <a:srgbClr val="0B1F33"/>
                </a:solidFill>
                <a:latin typeface="Microsoft YaHei"/>
              </a:defRPr>
            </a:pPr>
            <a:r>
              <a:t>Knowledge Base</a:t>
            </a:r>
          </a:p>
          <a:p>
            <a:pPr>
              <a:spcBef>
                <a:spcPts val="600"/>
              </a:spcBef>
              <a:defRPr sz="1350">
                <a:solidFill>
                  <a:srgbClr val="526474"/>
                </a:solidFill>
                <a:latin typeface="Microsoft YaHei"/>
              </a:defRPr>
            </a:pPr>
            <a:r>
              <a:t>Standard method statements, past winning bids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96000" y="3700000"/>
            <a:ext cx="3000000" cy="1700000"/>
          </a:xfrm>
          <a:prstGeom prst="roundRect">
            <a:avLst/>
          </a:prstGeom>
          <a:solidFill>
            <a:srgbClr val="EEF8FA"/>
          </a:solidFill>
          <a:ln w="22225">
            <a:solidFill>
              <a:srgbClr val="28B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96000" y="3850000"/>
            <a:ext cx="2600000" cy="1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8B8CF"/>
                </a:solidFill>
                <a:latin typeface="Microsoft YaHei"/>
              </a:defRPr>
            </a:pPr>
            <a:r>
              <a:t>04 [REMEDIATION LOOP]</a:t>
            </a:r>
          </a:p>
          <a:p>
            <a:pPr>
              <a:spcBef>
                <a:spcPts val="400"/>
              </a:spcBef>
              <a:defRPr sz="1800" b="1">
                <a:solidFill>
                  <a:srgbClr val="0B1F33"/>
                </a:solidFill>
                <a:latin typeface="Microsoft YaHei"/>
              </a:defRPr>
            </a:pPr>
            <a:r>
              <a:t>Remediate &amp; Re-inspect</a:t>
            </a:r>
          </a:p>
          <a:p>
            <a:pPr>
              <a:spcBef>
                <a:spcPts val="600"/>
              </a:spcBef>
              <a:defRPr sz="1350">
                <a:solidFill>
                  <a:srgbClr val="526474"/>
                </a:solidFill>
                <a:latin typeface="Microsoft YaHei"/>
              </a:defRPr>
            </a:pPr>
            <a:r>
              <a:t>KB suggestions, draft revisions, re-run checks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96000" y="3700000"/>
            <a:ext cx="3000000" cy="17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96000" y="3850000"/>
            <a:ext cx="2600000" cy="14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8B8CF"/>
                </a:solidFill>
                <a:latin typeface="Microsoft YaHei"/>
              </a:defRPr>
            </a:pPr>
            <a:r>
              <a:t>03</a:t>
            </a:r>
          </a:p>
          <a:p>
            <a:pPr>
              <a:spcBef>
                <a:spcPts val="400"/>
              </a:spcBef>
              <a:defRPr sz="1800" b="1">
                <a:solidFill>
                  <a:srgbClr val="0B1F33"/>
                </a:solidFill>
                <a:latin typeface="Microsoft YaHei"/>
              </a:defRPr>
            </a:pPr>
            <a:r>
              <a:t>Review &amp; Trace Evidence</a:t>
            </a:r>
          </a:p>
          <a:p>
            <a:pPr>
              <a:spcBef>
                <a:spcPts val="600"/>
              </a:spcBef>
              <a:defRPr sz="1350">
                <a:solidFill>
                  <a:srgbClr val="526474"/>
                </a:solidFill>
                <a:latin typeface="Microsoft YaHei"/>
              </a:defRPr>
            </a:pPr>
            <a:r>
              <a:t>Side-by-side evidence, page citations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696000" y="2250000"/>
            <a:ext cx="900000" cy="0"/>
          </a:xfrm>
          <a:prstGeom prst="line">
            <a:avLst/>
          </a:prstGeom>
          <a:ln w="22860">
            <a:solidFill>
              <a:srgbClr val="28B8C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596000" y="2250000"/>
            <a:ext cx="900000" cy="0"/>
          </a:xfrm>
          <a:prstGeom prst="line">
            <a:avLst/>
          </a:prstGeom>
          <a:ln w="25400">
            <a:solidFill>
              <a:srgbClr val="2B876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21000" y="2125000"/>
            <a:ext cx="650000" cy="250000"/>
          </a:xfrm>
          <a:prstGeom prst="roundRect">
            <a:avLst/>
          </a:prstGeom>
          <a:solidFill>
            <a:srgbClr val="EDF7EE"/>
          </a:solidFill>
          <a:ln w="12700">
            <a:solidFill>
              <a:srgbClr val="2B8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21000" y="2137000"/>
            <a:ext cx="650000" cy="226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 b="1">
                <a:solidFill>
                  <a:srgbClr val="2B876F"/>
                </a:solidFill>
                <a:latin typeface="Microsoft YaHei"/>
              </a:defRPr>
            </a:pPr>
            <a:r>
              <a:t>pass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996000" y="3100000"/>
            <a:ext cx="2250000" cy="600000"/>
          </a:xfrm>
          <a:prstGeom prst="line">
            <a:avLst/>
          </a:prstGeom>
          <a:ln w="25400">
            <a:solidFill>
              <a:srgbClr val="C4515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41000" y="3275000"/>
            <a:ext cx="760000" cy="250000"/>
          </a:xfrm>
          <a:prstGeom prst="roundRect">
            <a:avLst/>
          </a:prstGeom>
          <a:solidFill>
            <a:srgbClr val="FCE8E6"/>
          </a:solidFill>
          <a:ln w="12700">
            <a:solidFill>
              <a:srgbClr val="C45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41000" y="3287000"/>
            <a:ext cx="760000" cy="226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 b="1">
                <a:solidFill>
                  <a:srgbClr val="C45151"/>
                </a:solidFill>
                <a:latin typeface="Microsoft YaHei"/>
              </a:defRPr>
            </a:pPr>
            <a:r>
              <a:t>conflict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7596000" y="4550000"/>
            <a:ext cx="900000" cy="0"/>
          </a:xfrm>
          <a:prstGeom prst="line">
            <a:avLst/>
          </a:prstGeom>
          <a:ln w="22860">
            <a:solidFill>
              <a:srgbClr val="28B8C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696000" y="4425000"/>
            <a:ext cx="700000" cy="2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8B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96000" y="4437000"/>
            <a:ext cx="700000" cy="226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 b="1">
                <a:solidFill>
                  <a:srgbClr val="0B1F33"/>
                </a:solidFill>
                <a:latin typeface="Microsoft YaHei"/>
              </a:defRPr>
            </a:pPr>
            <a:r>
              <a:t>modify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696000" y="4550000"/>
            <a:ext cx="900000" cy="0"/>
          </a:xfrm>
          <a:prstGeom prst="line">
            <a:avLst/>
          </a:prstGeom>
          <a:ln w="22860">
            <a:solidFill>
              <a:srgbClr val="2E6F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721000" y="4425000"/>
            <a:ext cx="850000" cy="250000"/>
          </a:xfrm>
          <a:prstGeom prst="roundRect">
            <a:avLst/>
          </a:prstGeom>
          <a:solidFill>
            <a:srgbClr val="EEF4FA"/>
          </a:solidFill>
          <a:ln w="12700">
            <a:solidFill>
              <a:srgbClr val="2E6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721000" y="4437000"/>
            <a:ext cx="850000" cy="226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 b="1">
                <a:solidFill>
                  <a:srgbClr val="2E6F9E"/>
                </a:solidFill>
                <a:latin typeface="Microsoft YaHei"/>
              </a:defRPr>
            </a:pPr>
            <a:r>
              <a:t>KG suggest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5596000" y="3100000"/>
            <a:ext cx="0" cy="600000"/>
          </a:xfrm>
          <a:prstGeom prst="line">
            <a:avLst/>
          </a:prstGeom>
          <a:ln w="25400">
            <a:solidFill>
              <a:srgbClr val="28B8C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146000" y="3275000"/>
            <a:ext cx="900000" cy="25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8B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146000" y="3287000"/>
            <a:ext cx="900000" cy="226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 b="1">
                <a:solidFill>
                  <a:srgbClr val="0B1F33"/>
                </a:solidFill>
                <a:latin typeface="Microsoft YaHei"/>
              </a:defRPr>
            </a:pPr>
            <a:r>
              <a:t>re-inspect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6000" y="6150000"/>
            <a:ext cx="10800000" cy="36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80">
                <a:solidFill>
                  <a:srgbClr val="526474"/>
                </a:solidFill>
                <a:latin typeface="Microsoft YaHei"/>
              </a:defRPr>
            </a:pPr>
            <a:r>
              <a:t>MVP Scope: Searchable English PDFs, up to 100 pages per package; drawing register &amp; version check.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>
            <a:spLocks noGrp="1"/>
          </p:cNvSpPr>
          <p:nvPr/>
        </p:nvSpPr>
        <p:spPr>
          <a:xfrm>
            <a:off x="609600" y="400050"/>
            <a:ext cx="10477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and Technical Approach</a:t>
            </a:r>
          </a:p>
        </p:txBody>
      </p:sp>
      <p:sp>
        <p:nvSpPr>
          <p:cNvPr id="2" name="圆角矩形 1"/>
          <p:cNvSpPr>
            <a:spLocks noGrp="1"/>
          </p:cNvSpPr>
          <p:nvPr/>
        </p:nvSpPr>
        <p:spPr>
          <a:xfrm>
            <a:off x="609600" y="1028700"/>
            <a:ext cx="723900" cy="47625"/>
          </a:xfrm>
          <a:prstGeom prst="roundRect">
            <a:avLst>
              <a:gd name="adj" fmla="val 40000"/>
            </a:avLst>
          </a:prstGeom>
          <a:solidFill>
            <a:srgbClr val="28B8C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11144250" y="457200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350" b="1">
                <a:solidFill>
                  <a:srgbClr val="2E6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E6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257300"/>
            <a:ext cx="76200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175" b="1">
                <a:solidFill>
                  <a:srgbClr val="12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2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Three course technology areas form one review pipeline</a:t>
            </a:r>
          </a:p>
        </p:txBody>
      </p:sp>
      <p:sp>
        <p:nvSpPr>
          <p:cNvPr id="5" name="圆角矩形 4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47700" y="1981200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F2F6F8"/>
          </a:solidFill>
          <a:ln w="19050">
            <a:solidFill>
              <a:srgbClr val="2E6F9E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175" b="1">
                <a:solidFill>
                  <a:srgbClr val="2E6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2E6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</a:p>
        </p:txBody>
      </p:sp>
      <p:sp>
        <p:nvSpPr>
          <p:cNvPr id="6" name="矩形 5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47700" y="2571750"/>
            <a:ext cx="3048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9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Knowledge Discovery</a:t>
            </a:r>
          </a:p>
        </p:txBody>
      </p:sp>
      <p:sp>
        <p:nvSpPr>
          <p:cNvPr id="7" name="矩形 6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47700" y="2952750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425" b="1">
                <a:solidFill>
                  <a:srgbClr val="2E6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2E6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Find and classify requirements</a:t>
            </a:r>
          </a:p>
        </p:txBody>
      </p:sp>
      <p:sp>
        <p:nvSpPr>
          <p:cNvPr id="8" name="直接连接符 7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47700" y="3371850"/>
            <a:ext cx="3048000" cy="0"/>
          </a:xfrm>
          <a:prstGeom prst="line">
            <a:avLst/>
          </a:prstGeom>
          <a:noFill/>
          <a:ln w="28575">
            <a:solidFill>
              <a:srgbClr val="2E6F9E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47700" y="3638550"/>
            <a:ext cx="3249240" cy="1466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marL="228600" indent="-101600">
              <a:spcAft>
                <a:spcPts val="900"/>
              </a:spcAft>
              <a:buChar char="•"/>
              <a:defRPr sz="1500">
                <a:solidFill>
                  <a:srgbClr val="1427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solidFill>
                  <a:srgbClr val="1427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Supervised clause classification</a:t>
            </a:r>
          </a:p>
          <a:p>
            <a:pPr marL="228600" indent="-101600">
              <a:spcAft>
                <a:spcPts val="900"/>
              </a:spcAft>
              <a:buChar char="•"/>
              <a:defRPr sz="1500">
                <a:solidFill>
                  <a:srgbClr val="1427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solidFill>
                  <a:srgbClr val="1427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TF-IDF with logistic regression</a:t>
            </a:r>
          </a:p>
          <a:p>
            <a:pPr marL="228600" indent="-101600">
              <a:spcAft>
                <a:spcPts val="900"/>
              </a:spcAft>
              <a:buChar char="•"/>
              <a:defRPr sz="1500">
                <a:solidFill>
                  <a:srgbClr val="1427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solidFill>
                  <a:srgbClr val="1427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Sentence embeddings with a linear classifier</a:t>
            </a:r>
          </a:p>
        </p:txBody>
      </p:sp>
      <p:sp>
        <p:nvSpPr>
          <p:cNvPr id="10" name="圆角矩形 9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305300" y="1981200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F2F6F8"/>
          </a:solidFill>
          <a:ln w="19050">
            <a:solidFill>
              <a:srgbClr val="28B8CF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175" b="1">
                <a:solidFill>
                  <a:srgbClr val="28B8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28B8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</a:p>
        </p:txBody>
      </p:sp>
      <p:sp>
        <p:nvSpPr>
          <p:cNvPr id="11" name="矩形 10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4305300" y="2571750"/>
            <a:ext cx="3048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9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Cognitive System</a:t>
            </a:r>
            <a:r>
              <a:rPr lang="en-US" altLang="zh-CN" sz="19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</a:t>
            </a:r>
            <a:endParaRPr sz="1950" b="1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4305300" y="2952750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425" b="1">
                <a:solidFill>
                  <a:srgbClr val="28B8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28B8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Retrieve and explain evidence</a:t>
            </a:r>
          </a:p>
        </p:txBody>
      </p:sp>
      <p:sp>
        <p:nvSpPr>
          <p:cNvPr id="13" name="直接连接符 12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4305300" y="3371850"/>
            <a:ext cx="3048000" cy="0"/>
          </a:xfrm>
          <a:prstGeom prst="line">
            <a:avLst/>
          </a:prstGeom>
          <a:noFill/>
          <a:ln w="28575">
            <a:solidFill>
              <a:srgbClr val="28B8CF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4305300" y="3638550"/>
            <a:ext cx="3048000" cy="1466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marL="228600" indent="-101600">
              <a:spcAft>
                <a:spcPts val="900"/>
              </a:spcAft>
              <a:buChar char="•"/>
              <a:defRPr sz="1500">
                <a:solidFill>
                  <a:srgbClr val="1427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solidFill>
                  <a:srgbClr val="1427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Keyword and semantic retrieval</a:t>
            </a:r>
          </a:p>
          <a:p>
            <a:pPr marL="228600" indent="-101600">
              <a:spcAft>
                <a:spcPts val="900"/>
              </a:spcAft>
              <a:buChar char="•"/>
              <a:defRPr sz="1500">
                <a:solidFill>
                  <a:srgbClr val="1427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solidFill>
                  <a:srgbClr val="1427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structured extraction</a:t>
            </a:r>
          </a:p>
          <a:p>
            <a:pPr marL="228600" indent="-101600">
              <a:spcAft>
                <a:spcPts val="900"/>
              </a:spcAft>
              <a:buChar char="•"/>
              <a:defRPr sz="1500">
                <a:solidFill>
                  <a:srgbClr val="1427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zh-CN" sz="1500">
                <a:solidFill>
                  <a:srgbClr val="142735"/>
                </a:solidFill>
                <a:latin typeface="微软雅黑" panose="020B0503020204020204" charset="-122"/>
              </a:rPr>
              <a:t>Static Knowledge Base (KG) for remediation suggestion</a:t>
            </a:r>
            <a:r>
              <a:rPr lang="en-US" altLang="zh-CN" sz="1500">
                <a:solidFill>
                  <a:srgbClr val="142735"/>
                </a:solidFill>
                <a:latin typeface="微软雅黑" panose="020B0503020204020204" charset="-122"/>
              </a:rPr>
              <a:t>s</a:t>
            </a:r>
            <a:endParaRPr sz="1500">
              <a:solidFill>
                <a:srgbClr val="1427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7962900" y="1981200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F2F6F8"/>
          </a:solidFill>
          <a:ln w="19050">
            <a:solidFill>
              <a:srgbClr val="2B876F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2175" b="1">
                <a:solidFill>
                  <a:srgbClr val="2B87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2B87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</a:p>
        </p:txBody>
      </p:sp>
      <p:sp>
        <p:nvSpPr>
          <p:cNvPr id="16" name="矩形 15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7962900" y="2571750"/>
            <a:ext cx="3048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9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Decision Automation</a:t>
            </a:r>
          </a:p>
        </p:txBody>
      </p:sp>
      <p:sp>
        <p:nvSpPr>
          <p:cNvPr id="17" name="矩形 16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7962900" y="2952750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425" b="1">
                <a:solidFill>
                  <a:srgbClr val="2B87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2B876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Verify explicit constraints</a:t>
            </a:r>
          </a:p>
        </p:txBody>
      </p:sp>
      <p:sp>
        <p:nvSpPr>
          <p:cNvPr id="18" name="直接连接符 17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7962900" y="3371850"/>
            <a:ext cx="3048000" cy="0"/>
          </a:xfrm>
          <a:prstGeom prst="line">
            <a:avLst/>
          </a:prstGeom>
          <a:noFill/>
          <a:ln w="28575">
            <a:solidFill>
              <a:srgbClr val="2B876F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7962900" y="3638550"/>
            <a:ext cx="3048000" cy="1466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marL="228600" indent="-101600">
              <a:spcAft>
                <a:spcPts val="900"/>
              </a:spcAft>
              <a:buChar char="•"/>
              <a:defRPr sz="1500">
                <a:solidFill>
                  <a:srgbClr val="1427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solidFill>
                  <a:srgbClr val="1427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Versioned business rules</a:t>
            </a:r>
          </a:p>
          <a:p>
            <a:pPr marL="228600" indent="-101600">
              <a:spcAft>
                <a:spcPts val="900"/>
              </a:spcAft>
              <a:buChar char="•"/>
              <a:defRPr sz="1500">
                <a:solidFill>
                  <a:srgbClr val="1427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solidFill>
                  <a:srgbClr val="1427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Numeric, unit and deadline checks</a:t>
            </a:r>
          </a:p>
          <a:p>
            <a:pPr marL="228600" indent="-101600">
              <a:spcAft>
                <a:spcPts val="900"/>
              </a:spcAft>
              <a:buChar char="•"/>
              <a:defRPr sz="1500">
                <a:solidFill>
                  <a:srgbClr val="1427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solidFill>
                  <a:srgbClr val="1427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Escalation for ambiguous cases</a:t>
            </a: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609600" y="5334000"/>
            <a:ext cx="10972800" cy="838200"/>
          </a:xfrm>
          <a:prstGeom prst="roundRect">
            <a:avLst>
              <a:gd name="adj" fmla="val 15909"/>
            </a:avLst>
          </a:prstGeom>
          <a:solidFill>
            <a:srgbClr val="0B1F33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76300" y="5600700"/>
            <a:ext cx="2952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ML </a:t>
            </a:r>
            <a:r>
              <a:rPr lang="zh-CN" altLang="zh-CN" sz="1575" b="1">
                <a:solidFill>
                  <a:srgbClr val="FFFFFF"/>
                </a:solidFill>
                <a:latin typeface="微软雅黑" panose="020B0503020204020204" charset="-122"/>
              </a:rPr>
              <a:t>classifies</a:t>
            </a:r>
            <a:endParaRPr sz="15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419600" y="5603129"/>
            <a:ext cx="2952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buNone/>
              <a:def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 finds the evidence</a:t>
            </a: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174815" y="5524500"/>
            <a:ext cx="3751316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buNone/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Rules verify explicit constraints</a:t>
            </a:r>
          </a:p>
        </p:txBody>
      </p:sp>
      <p:sp>
        <p:nvSpPr>
          <p:cNvPr id="24" name="直接连接符 23"/>
          <p:cNvSpPr>
            <a:spLocks noGrp="1"/>
          </p:cNvSpPr>
          <p:nvPr/>
        </p:nvSpPr>
        <p:spPr>
          <a:xfrm>
            <a:off x="3639765" y="5753100"/>
            <a:ext cx="514350" cy="0"/>
          </a:xfrm>
          <a:prstGeom prst="line">
            <a:avLst/>
          </a:prstGeom>
          <a:noFill/>
          <a:ln w="19050">
            <a:solidFill>
              <a:srgbClr val="28B8CF"/>
            </a:solidFill>
            <a:prstDash val="solid"/>
          </a:ln>
        </p:spPr>
      </p:sp>
      <p:sp>
        <p:nvSpPr>
          <p:cNvPr id="25" name="直接连接符 24"/>
          <p:cNvSpPr>
            <a:spLocks noGrp="1"/>
          </p:cNvSpPr>
          <p:nvPr/>
        </p:nvSpPr>
        <p:spPr>
          <a:xfrm>
            <a:off x="7537279" y="5762050"/>
            <a:ext cx="514350" cy="0"/>
          </a:xfrm>
          <a:prstGeom prst="line">
            <a:avLst/>
          </a:prstGeom>
          <a:noFill/>
          <a:ln w="19050">
            <a:solidFill>
              <a:srgbClr val="28B8CF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9144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B1F33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722376" cy="36576"/>
          </a:xfrm>
          <a:prstGeom prst="rect">
            <a:avLst/>
          </a:prstGeom>
          <a:solidFill>
            <a:srgbClr val="28B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91672" y="402336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2E6F9E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38" y="1109932"/>
            <a:ext cx="53035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2E6F9E"/>
                </a:solidFill>
                <a:latin typeface="Arial"/>
              </a:defRPr>
            </a:pPr>
            <a:r>
              <a:t>1. DOCUMENT PREPROCESSING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53312"/>
            <a:ext cx="24231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19" y="1399032"/>
            <a:ext cx="2240279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300" b="1">
                <a:solidFill>
                  <a:srgbClr val="0B1F33"/>
                </a:solidFill>
                <a:latin typeface="Arial"/>
              </a:defRPr>
            </a:pPr>
            <a:r>
              <a:t>Tender &amp; Bid PDFs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353312"/>
            <a:ext cx="24231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83280" y="1399032"/>
            <a:ext cx="2240279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300" b="1">
                <a:solidFill>
                  <a:srgbClr val="0B1F33"/>
                </a:solidFill>
                <a:latin typeface="Arial"/>
              </a:defRPr>
            </a:pPr>
            <a:r>
              <a:t>Document Parser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353312"/>
            <a:ext cx="242316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80759" y="1399032"/>
            <a:ext cx="2240279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300" b="1">
                <a:solidFill>
                  <a:srgbClr val="0B1F33"/>
                </a:solidFill>
                <a:latin typeface="Arial"/>
              </a:defRPr>
            </a:pPr>
            <a:r>
              <a:t>Version &amp; Page Controller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41080" y="1353312"/>
            <a:ext cx="269748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32519" y="1399032"/>
            <a:ext cx="2514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300" b="1">
                <a:solidFill>
                  <a:srgbClr val="0B1F33"/>
                </a:solidFill>
                <a:latin typeface="Arial"/>
              </a:defRPr>
            </a:pPr>
            <a:r>
              <a:t>Audit Traceability Registry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63239" y="1650492"/>
            <a:ext cx="228601" cy="0"/>
          </a:xfrm>
          <a:prstGeom prst="line">
            <a:avLst/>
          </a:prstGeom>
          <a:ln w="17780">
            <a:solidFill>
              <a:srgbClr val="2E6F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715000" y="1650492"/>
            <a:ext cx="274320" cy="0"/>
          </a:xfrm>
          <a:prstGeom prst="line">
            <a:avLst/>
          </a:prstGeom>
          <a:ln w="17780">
            <a:solidFill>
              <a:srgbClr val="2E6F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412480" y="1650492"/>
            <a:ext cx="228600" cy="0"/>
          </a:xfrm>
          <a:prstGeom prst="line">
            <a:avLst/>
          </a:prstGeom>
          <a:ln w="17780">
            <a:solidFill>
              <a:srgbClr val="2E6F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20039" y="2142514"/>
            <a:ext cx="53035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2E6F9E"/>
                </a:solidFill>
                <a:latin typeface="Arial"/>
              </a:defRPr>
            </a:pPr>
            <a:r>
              <a:t>2A. KNOWLEDGE DISCOVERY (REQUIREMENTS)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38059" y="2132838"/>
            <a:ext cx="53035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2E6F9E"/>
                </a:solidFill>
                <a:latin typeface="Arial"/>
              </a:defRPr>
            </a:pPr>
            <a:r>
              <a:t>2B. EVIDENCE RETRIEVAL (DYNAMIC BID RAG)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414016"/>
            <a:ext cx="24231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19" y="2459736"/>
            <a:ext cx="2240279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300" b="1">
                <a:solidFill>
                  <a:srgbClr val="0B1F33"/>
                </a:solidFill>
                <a:latin typeface="Arial"/>
              </a:defRPr>
            </a:pPr>
            <a:r>
              <a:t>Clause Classifier (ML)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91840" y="2414016"/>
            <a:ext cx="24231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383280" y="2459736"/>
            <a:ext cx="2240279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300" b="1">
                <a:solidFill>
                  <a:srgbClr val="0B1F33"/>
                </a:solidFill>
                <a:latin typeface="Arial"/>
              </a:defRPr>
            </a:pPr>
            <a:r>
              <a:t>Requirement Extractor (LLM)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063239" y="2734056"/>
            <a:ext cx="228601" cy="0"/>
          </a:xfrm>
          <a:prstGeom prst="line">
            <a:avLst/>
          </a:prstGeom>
          <a:ln w="17780">
            <a:solidFill>
              <a:srgbClr val="2E6F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989320" y="2414016"/>
            <a:ext cx="242316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80759" y="2459736"/>
            <a:ext cx="2240279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300" b="1">
                <a:solidFill>
                  <a:srgbClr val="0B1F33"/>
                </a:solidFill>
                <a:latin typeface="Arial"/>
              </a:defRPr>
            </a:pPr>
            <a:r>
              <a:t>Bid Chunker &amp; Embedder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41080" y="2414016"/>
            <a:ext cx="269748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732519" y="2459736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300" b="1">
                <a:solidFill>
                  <a:srgbClr val="0B1F33"/>
                </a:solidFill>
                <a:latin typeface="Arial"/>
              </a:defRPr>
            </a:pPr>
            <a:r>
              <a:t>Hybrid Evidence Retriever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412480" y="2734056"/>
            <a:ext cx="228600" cy="0"/>
          </a:xfrm>
          <a:prstGeom prst="line">
            <a:avLst/>
          </a:prstGeom>
          <a:ln w="17780">
            <a:solidFill>
              <a:srgbClr val="2E6F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1851660" y="1947672"/>
            <a:ext cx="2651760" cy="466344"/>
          </a:xfrm>
          <a:prstGeom prst="line">
            <a:avLst/>
          </a:prstGeom>
          <a:ln w="17780">
            <a:solidFill>
              <a:srgbClr val="2E6F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200900" y="1947672"/>
            <a:ext cx="0" cy="466344"/>
          </a:xfrm>
          <a:prstGeom prst="line">
            <a:avLst/>
          </a:prstGeom>
          <a:ln w="17780">
            <a:solidFill>
              <a:srgbClr val="2E6F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20039" y="3228708"/>
            <a:ext cx="53035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2E6F9E"/>
                </a:solidFill>
                <a:latin typeface="Arial"/>
              </a:defRPr>
            </a:pPr>
            <a:r>
              <a:t>3A. RULE ENGINE (INSPECTION)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38059" y="3305556"/>
            <a:ext cx="53035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2E6F9E"/>
                </a:solidFill>
                <a:latin typeface="Arial"/>
              </a:defRPr>
            </a:pPr>
            <a:r>
              <a:t>3B. HUMAN REVIEW &amp; REMEDIATION (COLLABORATION &amp; KB)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3529584"/>
            <a:ext cx="2423160" cy="868680"/>
          </a:xfrm>
          <a:prstGeom prst="roundRect">
            <a:avLst/>
          </a:prstGeom>
          <a:solidFill>
            <a:srgbClr val="EEF4FB"/>
          </a:solidFill>
          <a:ln w="19050">
            <a:solidFill>
              <a:srgbClr val="2E6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31519" y="3575303"/>
            <a:ext cx="2240279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300" b="1">
                <a:solidFill>
                  <a:srgbClr val="0B1F33"/>
                </a:solidFill>
                <a:latin typeface="Arial"/>
              </a:defRPr>
            </a:pPr>
            <a:r>
              <a:t>Symbolic Rule Engine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727846" y="3527642"/>
            <a:ext cx="2423160" cy="8686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E6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832826" y="3593592"/>
            <a:ext cx="2240279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300" b="1">
                <a:solidFill>
                  <a:srgbClr val="0B1F33"/>
                </a:solidFill>
                <a:latin typeface="Arial"/>
              </a:defRPr>
            </a:pPr>
            <a:r>
              <a:t>Human Review Interface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31209" y="3529584"/>
            <a:ext cx="2423160" cy="868680"/>
          </a:xfrm>
          <a:prstGeom prst="roundRect">
            <a:avLst/>
          </a:prstGeom>
          <a:solidFill>
            <a:srgbClr val="FEF8E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22648" y="3575303"/>
            <a:ext cx="2240279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300" b="1">
                <a:solidFill>
                  <a:srgbClr val="0B1F33"/>
                </a:solidFill>
                <a:latin typeface="Arial"/>
              </a:defRPr>
            </a:pPr>
            <a:r>
              <a:t>Remediation Recommender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82969" y="3529584"/>
            <a:ext cx="2697480" cy="868680"/>
          </a:xfrm>
          <a:prstGeom prst="roundRect">
            <a:avLst/>
          </a:prstGeom>
          <a:solidFill>
            <a:srgbClr val="EDF8FA"/>
          </a:solidFill>
          <a:ln w="19050">
            <a:solidFill>
              <a:srgbClr val="28B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74408" y="3575303"/>
            <a:ext cx="25146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300" b="1">
                <a:solidFill>
                  <a:srgbClr val="0B1F33"/>
                </a:solidFill>
                <a:latin typeface="Arial"/>
              </a:defRPr>
            </a:pPr>
            <a:r>
              <a:t>Enterprise Knowledge Base</a:t>
            </a:r>
          </a:p>
        </p:txBody>
      </p:sp>
      <p:cxnSp>
        <p:nvCxnSpPr>
          <p:cNvPr id="41" name="Connector 40"/>
          <p:cNvCxnSpPr/>
          <p:nvPr/>
        </p:nvCxnSpPr>
        <p:spPr>
          <a:xfrm flipH="1">
            <a:off x="1609344" y="3054096"/>
            <a:ext cx="2894076" cy="475488"/>
          </a:xfrm>
          <a:prstGeom prst="line">
            <a:avLst/>
          </a:prstGeom>
          <a:ln w="17780">
            <a:solidFill>
              <a:srgbClr val="2E6F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2578608" y="3054096"/>
            <a:ext cx="7411211" cy="475488"/>
          </a:xfrm>
          <a:prstGeom prst="line">
            <a:avLst/>
          </a:prstGeom>
          <a:ln w="17780">
            <a:solidFill>
              <a:srgbClr val="2E6F9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>
            <a:cxnSpLocks/>
            <a:stCxn id="33" idx="3"/>
            <a:endCxn id="35" idx="1"/>
          </p:cNvCxnSpPr>
          <p:nvPr/>
        </p:nvCxnSpPr>
        <p:spPr>
          <a:xfrm flipV="1">
            <a:off x="3063240" y="3961982"/>
            <a:ext cx="664606" cy="1942"/>
          </a:xfrm>
          <a:prstGeom prst="line">
            <a:avLst/>
          </a:prstGeom>
          <a:ln w="22860">
            <a:solidFill>
              <a:srgbClr val="DC262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6156889" y="3969623"/>
            <a:ext cx="274320" cy="0"/>
          </a:xfrm>
          <a:prstGeom prst="line">
            <a:avLst/>
          </a:prstGeom>
          <a:ln w="19050">
            <a:solidFill>
              <a:srgbClr val="D9770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8854369" y="3963924"/>
            <a:ext cx="228600" cy="0"/>
          </a:xfrm>
          <a:prstGeom prst="line">
            <a:avLst/>
          </a:prstGeom>
          <a:ln w="19050">
            <a:solidFill>
              <a:srgbClr val="28B8C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>
            <a:cxnSpLocks/>
          </p:cNvCxnSpPr>
          <p:nvPr/>
        </p:nvCxnSpPr>
        <p:spPr>
          <a:xfrm flipV="1">
            <a:off x="11917606" y="707595"/>
            <a:ext cx="0" cy="3950208"/>
          </a:xfrm>
          <a:prstGeom prst="line">
            <a:avLst/>
          </a:prstGeom>
          <a:ln w="22860">
            <a:solidFill>
              <a:srgbClr val="0284C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 rot="5400000">
            <a:off x="11426619" y="2590366"/>
            <a:ext cx="1218282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50" b="1">
                <a:solidFill>
                  <a:srgbClr val="28B8CF"/>
                </a:solidFill>
                <a:latin typeface="Arial"/>
              </a:defRPr>
            </a:pPr>
            <a:r>
              <a:rPr sz="1200"/>
              <a:t>Re-inspect </a:t>
            </a:r>
            <a:r>
              <a:rPr sz="1200">
                <a:latin typeface="微软雅黑" panose="020B0503020204020204" pitchFamily="34" charset="-122"/>
                <a:ea typeface="微软雅黑" panose="020B0503020204020204" pitchFamily="34" charset="-122"/>
              </a:rPr>
              <a:t>Loop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47988" y="4935565"/>
            <a:ext cx="3066545" cy="14619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2E6F9E"/>
                </a:solidFill>
                <a:latin typeface="Arial"/>
              </a:defRPr>
            </a:pPr>
            <a:r>
              <a:t>4. COMPLIANCE DELIVERY &amp; DOCUMENT EXPORT 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79" y="5139484"/>
            <a:ext cx="5074920" cy="658368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E6F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31518" y="5368640"/>
            <a:ext cx="489204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1300" b="1">
                <a:solidFill>
                  <a:srgbClr val="0B1F33"/>
                </a:solidFill>
                <a:latin typeface="Arial"/>
              </a:defRPr>
            </a:pPr>
            <a:r>
              <a:t>Compliance Matrix</a:t>
            </a:r>
            <a:r>
              <a:rPr lang="en-US"/>
              <a:t> </a:t>
            </a:r>
            <a:r>
              <a:rPr lang="en-US" altLang="zh-CN"/>
              <a:t>saved and final </a:t>
            </a:r>
            <a:endParaRPr/>
          </a:p>
        </p:txBody>
      </p:sp>
      <p:cxnSp>
        <p:nvCxnSpPr>
          <p:cNvPr id="53" name="Connector 52"/>
          <p:cNvCxnSpPr>
            <a:cxnSpLocks/>
          </p:cNvCxnSpPr>
          <p:nvPr/>
        </p:nvCxnSpPr>
        <p:spPr>
          <a:xfrm>
            <a:off x="1851660" y="4398264"/>
            <a:ext cx="0" cy="683495"/>
          </a:xfrm>
          <a:prstGeom prst="line">
            <a:avLst/>
          </a:prstGeom>
          <a:ln w="22860">
            <a:solidFill>
              <a:srgbClr val="16A34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71500" y="6117016"/>
            <a:ext cx="1083564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526474"/>
                </a:solidFill>
                <a:latin typeface="Arial"/>
              </a:defRPr>
            </a:pPr>
            <a:r>
              <a:t>Architecture Principle: Cognitive extraction, deterministic rule verification, human-in-the-loop remediation &amp; formal audit export.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5303520" y="4398264"/>
            <a:ext cx="0" cy="246888"/>
          </a:xfrm>
          <a:prstGeom prst="line">
            <a:avLst/>
          </a:prstGeom>
          <a:ln w="22860">
            <a:solidFill>
              <a:srgbClr val="0284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>
            <a:cxnSpLocks/>
          </p:cNvCxnSpPr>
          <p:nvPr/>
        </p:nvCxnSpPr>
        <p:spPr>
          <a:xfrm>
            <a:off x="5303520" y="4645152"/>
            <a:ext cx="6614086" cy="12651"/>
          </a:xfrm>
          <a:prstGeom prst="line">
            <a:avLst/>
          </a:prstGeom>
          <a:ln w="22860">
            <a:solidFill>
              <a:srgbClr val="0284C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ounded Rectangle 75"/>
          <p:cNvSpPr/>
          <p:nvPr/>
        </p:nvSpPr>
        <p:spPr>
          <a:xfrm>
            <a:off x="7498079" y="4526280"/>
            <a:ext cx="1645920" cy="219456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Modify Bid &amp; Re-inspect</a:t>
            </a:r>
          </a:p>
        </p:txBody>
      </p:sp>
      <p:cxnSp>
        <p:nvCxnSpPr>
          <p:cNvPr id="60" name="Connector 74">
            <a:extLst>
              <a:ext uri="{FF2B5EF4-FFF2-40B4-BE49-F238E27FC236}">
                <a16:creationId xmlns:a16="http://schemas.microsoft.com/office/drawing/2014/main" id="{4E93AF6F-DC45-8AF3-C47E-F8D656F72352}"/>
              </a:ext>
            </a:extLst>
          </p:cNvPr>
          <p:cNvCxnSpPr>
            <a:cxnSpLocks/>
          </p:cNvCxnSpPr>
          <p:nvPr/>
        </p:nvCxnSpPr>
        <p:spPr>
          <a:xfrm flipH="1">
            <a:off x="7200898" y="707595"/>
            <a:ext cx="4742529" cy="0"/>
          </a:xfrm>
          <a:prstGeom prst="line">
            <a:avLst/>
          </a:prstGeom>
          <a:ln w="22860">
            <a:solidFill>
              <a:srgbClr val="0284C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45">
            <a:extLst>
              <a:ext uri="{FF2B5EF4-FFF2-40B4-BE49-F238E27FC236}">
                <a16:creationId xmlns:a16="http://schemas.microsoft.com/office/drawing/2014/main" id="{2F936BAB-EC2C-C5ED-D735-4AEAA8A87BCC}"/>
              </a:ext>
            </a:extLst>
          </p:cNvPr>
          <p:cNvCxnSpPr>
            <a:cxnSpLocks/>
          </p:cNvCxnSpPr>
          <p:nvPr/>
        </p:nvCxnSpPr>
        <p:spPr>
          <a:xfrm flipH="1">
            <a:off x="7199146" y="728681"/>
            <a:ext cx="1754" cy="606343"/>
          </a:xfrm>
          <a:prstGeom prst="line">
            <a:avLst/>
          </a:prstGeom>
          <a:ln w="22860">
            <a:solidFill>
              <a:srgbClr val="0284C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46">
            <a:extLst>
              <a:ext uri="{FF2B5EF4-FFF2-40B4-BE49-F238E27FC236}">
                <a16:creationId xmlns:a16="http://schemas.microsoft.com/office/drawing/2014/main" id="{E615D9D5-8B6D-CB00-44B2-288C6F7D1FA2}"/>
              </a:ext>
            </a:extLst>
          </p:cNvPr>
          <p:cNvSpPr txBox="1"/>
          <p:nvPr/>
        </p:nvSpPr>
        <p:spPr>
          <a:xfrm>
            <a:off x="3198696" y="3748148"/>
            <a:ext cx="259366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50" b="1">
                <a:solidFill>
                  <a:srgbClr val="28B8CF"/>
                </a:solidFill>
                <a:latin typeface="Arial"/>
              </a:defRPr>
            </a:pPr>
            <a:r>
              <a:rPr lang="en-US" sz="12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Fail</a:t>
            </a:r>
            <a:endParaRPr sz="12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TextBox 46">
            <a:extLst>
              <a:ext uri="{FF2B5EF4-FFF2-40B4-BE49-F238E27FC236}">
                <a16:creationId xmlns:a16="http://schemas.microsoft.com/office/drawing/2014/main" id="{ACC04F02-A5EE-73FD-AE2A-7B580A3CF3FE}"/>
              </a:ext>
            </a:extLst>
          </p:cNvPr>
          <p:cNvSpPr txBox="1"/>
          <p:nvPr/>
        </p:nvSpPr>
        <p:spPr>
          <a:xfrm rot="5400000">
            <a:off x="1545837" y="4669753"/>
            <a:ext cx="392223" cy="18466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850" b="1">
                <a:solidFill>
                  <a:srgbClr val="28B8CF"/>
                </a:solidFill>
                <a:latin typeface="Arial"/>
              </a:defRPr>
            </a:pPr>
            <a:r>
              <a:rPr lang="en-US" sz="120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PASS</a:t>
            </a:r>
            <a:endParaRPr sz="1200">
              <a:solidFill>
                <a:srgbClr val="92D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65760"/>
            <a:ext cx="91440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0B1F33"/>
                </a:solidFill>
                <a:latin typeface="Arial"/>
              </a:defRPr>
            </a:pPr>
            <a:r>
              <a:t>Data and Evaluation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722376" cy="36576"/>
          </a:xfrm>
          <a:prstGeom prst="rect">
            <a:avLst/>
          </a:prstGeom>
          <a:solidFill>
            <a:srgbClr val="28B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91672" y="402336"/>
            <a:ext cx="4572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00" b="1">
                <a:solidFill>
                  <a:srgbClr val="2E6F9E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53035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2E6F9E"/>
                </a:solidFill>
                <a:latin typeface="Arial"/>
              </a:defRPr>
            </a:pPr>
            <a:r>
              <a:t>1. DATA COLLECTION &amp; PREPARATION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53312"/>
            <a:ext cx="507492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72768"/>
            <a:ext cx="4617720" cy="39776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B1F33"/>
                </a:solidFill>
                <a:latin typeface="Arial"/>
              </a:defRPr>
            </a:pPr>
            <a:r>
              <a:t>Data Sources &amp; Scope</a:t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0B1F33"/>
                </a:solidFill>
                <a:latin typeface="Arial"/>
              </a:rPr>
              <a:t>• Historical Tender Packages: </a:t>
            </a:r>
            <a:r>
              <a:rPr sz="1150">
                <a:solidFill>
                  <a:srgbClr val="4A5D6E"/>
                </a:solidFill>
                <a:latin typeface="Arial"/>
              </a:rPr>
              <a:t>15 to 25 authorised project document sets from partner contractors (civil and hydraulic engineering projects, covering specifications, schedules, addenda, and bid submissions).</a:t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0B1F33"/>
                </a:solidFill>
                <a:latin typeface="Arial"/>
              </a:rPr>
              <a:t>• Open-Source Repositories: </a:t>
            </a:r>
            <a:r>
              <a:rPr sz="1150">
                <a:solidFill>
                  <a:srgbClr val="4A5D6E"/>
                </a:solidFill>
                <a:latin typeface="Arial"/>
              </a:rPr>
              <a:t>CUAD and ContractNLI benchmark datasets support baseline clause prototyping and extraction methodology.</a:t>
            </a:r>
          </a:p>
          <a:p>
            <a:pPr>
              <a:spcBef>
                <a:spcPts val="2200"/>
              </a:spcBef>
              <a:defRPr sz="1500" b="1">
                <a:solidFill>
                  <a:srgbClr val="0B1F33"/>
                </a:solidFill>
                <a:latin typeface="Arial"/>
              </a:defRPr>
            </a:pPr>
            <a:r>
              <a:t>Data Partitioning &amp; Integrity</a:t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0B1F33"/>
                </a:solidFill>
                <a:latin typeface="Arial"/>
              </a:rPr>
              <a:t>• Project-Level Split: </a:t>
            </a:r>
            <a:r>
              <a:rPr sz="1150">
                <a:solidFill>
                  <a:srgbClr val="4A5D6E"/>
                </a:solidFill>
                <a:latin typeface="Arial"/>
              </a:rPr>
              <a:t>Partitioned strictly by project family and template so that test projects remain completely unseen during model development.</a:t>
            </a:r>
          </a:p>
          <a:p>
            <a:pPr>
              <a:spcBef>
                <a:spcPts val="800"/>
              </a:spcBef>
            </a:pPr>
            <a:r>
              <a:rPr sz="1150" b="1">
                <a:solidFill>
                  <a:srgbClr val="2E6F9E"/>
                </a:solidFill>
                <a:latin typeface="Arial"/>
              </a:rPr>
              <a:t>• Hard-Example Study: </a:t>
            </a:r>
            <a:r>
              <a:rPr sz="1150">
                <a:solidFill>
                  <a:srgbClr val="4A5D6E"/>
                </a:solidFill>
                <a:latin typeface="Arial"/>
              </a:rPr>
              <a:t>Testing edge cases with subtle changes in numeric limits, dates, units, and negation clauses.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89320" y="1097280"/>
            <a:ext cx="53035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2E6F9E"/>
                </a:solidFill>
                <a:latin typeface="Arial"/>
              </a:defRPr>
            </a:pPr>
            <a:r>
              <a:t>2. EVALUATION PLAN &amp; VALIDATION METHODOLOGY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353312"/>
            <a:ext cx="5559552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D9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0" y="1572768"/>
            <a:ext cx="5102352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500" b="1">
                <a:solidFill>
                  <a:srgbClr val="0B1F33"/>
                </a:solidFill>
                <a:latin typeface="Arial"/>
              </a:defRPr>
            </a:pPr>
            <a:r>
              <a:t>Component Validation Framework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17920" y="1956816"/>
          <a:ext cx="5102352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1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Component / Task</a:t>
                      </a:r>
                    </a:p>
                  </a:txBody>
                  <a:tcPr marL="109728" marR="109728" marT="54864" marB="54864" anchor="ctr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Validation Approach &amp; Metric</a:t>
                      </a:r>
                    </a:p>
                  </a:txBody>
                  <a:tcPr marL="109728" marR="109728" marT="54864" marB="54864" anchor="ctr">
                    <a:solidFill>
                      <a:srgbClr val="0B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0B1F33"/>
                          </a:solidFill>
                          <a:latin typeface="Arial"/>
                        </a:defRPr>
                      </a:pPr>
                      <a:r>
                        <a:t>Clause Classification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4A5D6E"/>
                          </a:solidFill>
                          <a:latin typeface="Arial"/>
                        </a:defRPr>
                      </a:pPr>
                      <a:r>
                        <a:t>Precision, Recall &amp; Macro F1 on holdout project clauses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0B1F33"/>
                          </a:solidFill>
                          <a:latin typeface="Arial"/>
                        </a:defRPr>
                      </a:pPr>
                      <a:r>
                        <a:t>Evidence Retrieval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4A5D6E"/>
                          </a:solidFill>
                          <a:latin typeface="Arial"/>
                        </a:defRPr>
                      </a:pPr>
                      <a:r>
                        <a:t>Top-k Passage Recall against ground-truth response citations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0B1F33"/>
                          </a:solidFill>
                          <a:latin typeface="Arial"/>
                        </a:defRPr>
                      </a:pPr>
                      <a:r>
                        <a:t>Rule Verification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4A5D6E"/>
                          </a:solidFill>
                          <a:latin typeface="Arial"/>
                        </a:defRPr>
                      </a:pPr>
                      <a:r>
                        <a:t>Deterministic test suite against constraint testbed cases</a:t>
                      </a:r>
                    </a:p>
                  </a:txBody>
                  <a:tcPr marL="109728" marR="109728" marT="54864" marB="54864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0B1F33"/>
                          </a:solidFill>
                          <a:latin typeface="Arial"/>
                        </a:defRPr>
                      </a:pPr>
                      <a:r>
                        <a:t>End-to-End Review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4A5D6E"/>
                          </a:solidFill>
                          <a:latin typeface="Arial"/>
                        </a:defRPr>
                      </a:pPr>
                      <a:r>
                        <a:t>Full-package pilot trial compared with manual cross-checking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217920" y="4407408"/>
            <a:ext cx="5102352" cy="116185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B1F33"/>
                </a:solidFill>
                <a:latin typeface="Arial"/>
              </a:defRPr>
            </a:pPr>
            <a:r>
              <a:t>Validation Grounding Principles</a:t>
            </a:r>
          </a:p>
          <a:p>
            <a:pPr>
              <a:spcBef>
                <a:spcPts val="500"/>
              </a:spcBef>
            </a:pPr>
            <a:r>
              <a:rPr sz="1100" b="1">
                <a:solidFill>
                  <a:srgbClr val="0B1F33"/>
                </a:solidFill>
                <a:latin typeface="Arial"/>
              </a:rPr>
              <a:t>• Baseline Benchmarking: </a:t>
            </a:r>
            <a:r>
              <a:rPr sz="1100">
                <a:solidFill>
                  <a:srgbClr val="4A5D6E"/>
                </a:solidFill>
                <a:latin typeface="Arial"/>
              </a:rPr>
              <a:t>Establishes quantitative baselines on open datasets (TF-IDF vs embeddings) before fine-tuning domain models.</a:t>
            </a:r>
          </a:p>
          <a:p>
            <a:pPr>
              <a:spcBef>
                <a:spcPts val="400"/>
              </a:spcBef>
            </a:pPr>
            <a:r>
              <a:rPr sz="1100" b="1">
                <a:solidFill>
                  <a:srgbClr val="0B1F33"/>
                </a:solidFill>
                <a:latin typeface="Arial"/>
              </a:rPr>
              <a:t>• Real-World Pilot: </a:t>
            </a:r>
            <a:r>
              <a:rPr lang="zh-CN" altLang="zh-CN" sz="1100">
                <a:solidFill>
                  <a:srgbClr val="4A5D6E"/>
                </a:solidFill>
                <a:latin typeface="Arial"/>
              </a:rPr>
              <a:t>Historical Case Replay: End-to-end verification on archived real-world tender packages to evaluate whether known historical risk points and addenda updates are accurately flagged.</a:t>
            </a:r>
            <a:endParaRPr sz="1100">
              <a:solidFill>
                <a:srgbClr val="4A5D6E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/>
          <p:cNvSpPr>
            <a:spLocks noGrp="1"/>
          </p:cNvSpPr>
          <p:nvPr/>
        </p:nvSpPr>
        <p:spPr>
          <a:xfrm>
            <a:off x="609600" y="400050"/>
            <a:ext cx="104775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1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1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Project Plan, Risks and Expected Outcome</a:t>
            </a:r>
          </a:p>
        </p:txBody>
      </p:sp>
      <p:sp>
        <p:nvSpPr>
          <p:cNvPr id="2" name="圆角矩形 1"/>
          <p:cNvSpPr>
            <a:spLocks noGrp="1"/>
          </p:cNvSpPr>
          <p:nvPr/>
        </p:nvSpPr>
        <p:spPr>
          <a:xfrm>
            <a:off x="609600" y="1028700"/>
            <a:ext cx="723900" cy="47625"/>
          </a:xfrm>
          <a:prstGeom prst="roundRect">
            <a:avLst>
              <a:gd name="adj" fmla="val 40000"/>
            </a:avLst>
          </a:prstGeom>
          <a:solidFill>
            <a:srgbClr val="28B8CF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11144250" y="457200"/>
            <a:ext cx="4381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350" b="1">
                <a:solidFill>
                  <a:srgbClr val="2E6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2E6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295400"/>
            <a:ext cx="4953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10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Delivery path to 25 October</a:t>
            </a:r>
          </a:p>
        </p:txBody>
      </p:sp>
      <p:sp>
        <p:nvSpPr>
          <p:cNvPr id="5" name="直接连接符 4"/>
          <p:cNvSpPr>
            <a:spLocks noGrp="1"/>
          </p:cNvSpPr>
          <p:nvPr/>
        </p:nvSpPr>
        <p:spPr>
          <a:xfrm>
            <a:off x="952500" y="2247900"/>
            <a:ext cx="10096500" cy="0"/>
          </a:xfrm>
          <a:prstGeom prst="line">
            <a:avLst/>
          </a:prstGeom>
          <a:noFill/>
          <a:ln w="38100">
            <a:solidFill>
              <a:srgbClr val="2E6F9E"/>
            </a:solidFill>
            <a:prstDash val="solid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1143000" y="208597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2E6F9E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028700" y="1676400"/>
            <a:ext cx="1619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200" b="1">
                <a:solidFill>
                  <a:srgbClr val="2E6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E6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SEP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28700" y="25717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 access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028700" y="2914650"/>
            <a:ext cx="20955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275" b="0">
                <a:solidFill>
                  <a:srgbClr val="5264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264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Permissions, annotation pilot and baseline</a:t>
            </a: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3714750" y="208597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2E6F9E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3600450" y="1676400"/>
            <a:ext cx="1619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200" b="1">
                <a:solidFill>
                  <a:srgbClr val="2E6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E6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LATE SEP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600450" y="25717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Integration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600450" y="2914650"/>
            <a:ext cx="20955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275" b="0">
                <a:solidFill>
                  <a:srgbClr val="5264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264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Retrieval, rules and review interface</a:t>
            </a: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6286500" y="208597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2E6F9E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172200" y="1676400"/>
            <a:ext cx="1619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200" b="1">
                <a:solidFill>
                  <a:srgbClr val="2E6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E6F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EARLY OCT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172200" y="25717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Validation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172200" y="2914650"/>
            <a:ext cx="20955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275" b="0">
                <a:solidFill>
                  <a:srgbClr val="5264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264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Robustness tests and optional study</a:t>
            </a: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8001000" y="208597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28B8CF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7886700" y="1676400"/>
            <a:ext cx="1619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200" b="1">
                <a:solidFill>
                  <a:srgbClr val="28B8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8B8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MID OCT</a:t>
            </a: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886700" y="2571750"/>
            <a:ext cx="1619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System freeze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886700" y="2914650"/>
            <a:ext cx="16192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275" b="0">
                <a:solidFill>
                  <a:srgbClr val="5264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264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Holdout evaluation and reporting</a:t>
            </a: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10287000" y="208597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28B8CF"/>
          </a:solidFill>
          <a:ln w="0">
            <a:noFill/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9829800" y="1676400"/>
            <a:ext cx="1143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200" b="1">
                <a:solidFill>
                  <a:srgbClr val="28B8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8B8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 OCT</a:t>
            </a: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9525000" y="2571750"/>
            <a:ext cx="14478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buNone/>
              <a:defRPr sz="150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Final submission</a:t>
            </a: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28650" y="3886200"/>
            <a:ext cx="2857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025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Key risks</a:t>
            </a: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66750" y="4324350"/>
            <a:ext cx="4953000" cy="152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marL="228600" indent="-101600">
              <a:spcAft>
                <a:spcPts val="700"/>
              </a:spcAft>
              <a:buChar char="•"/>
              <a:defRPr sz="1500">
                <a:solidFill>
                  <a:srgbClr val="1427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solidFill>
                  <a:srgbClr val="1427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Insufficient authorised engineering data</a:t>
            </a:r>
          </a:p>
          <a:p>
            <a:pPr marL="228600" indent="-101600">
              <a:spcAft>
                <a:spcPts val="700"/>
              </a:spcAft>
              <a:buChar char="•"/>
              <a:defRPr sz="1500">
                <a:solidFill>
                  <a:srgbClr val="1427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solidFill>
                  <a:srgbClr val="1427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PDF parsing or retrieval gaps</a:t>
            </a:r>
          </a:p>
          <a:p>
            <a:pPr marL="228600" indent="-101600">
              <a:spcAft>
                <a:spcPts val="700"/>
              </a:spcAft>
              <a:buChar char="•"/>
              <a:defRPr sz="1500">
                <a:solidFill>
                  <a:srgbClr val="1427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solidFill>
                  <a:srgbClr val="1427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hallucination and confidentiality risks</a:t>
            </a:r>
          </a:p>
          <a:p>
            <a:pPr marL="228600" indent="-101600">
              <a:spcAft>
                <a:spcPts val="700"/>
              </a:spcAft>
              <a:buChar char="•"/>
              <a:defRPr sz="1500">
                <a:solidFill>
                  <a:srgbClr val="1427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solidFill>
                  <a:srgbClr val="1427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Optional experiment delays the core system</a:t>
            </a: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343650" y="3886200"/>
            <a:ext cx="4000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025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Expected deliverables</a:t>
            </a: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6381750" y="4324350"/>
            <a:ext cx="4857750" cy="152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>
            <a:noAutofit/>
          </a:bodyPr>
          <a:lstStyle/>
          <a:p>
            <a:pPr marL="228600" indent="-101600">
              <a:spcAft>
                <a:spcPts val="700"/>
              </a:spcAft>
              <a:buChar char="•"/>
              <a:defRPr sz="1500">
                <a:solidFill>
                  <a:srgbClr val="1427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solidFill>
                  <a:srgbClr val="1427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Working TenderCheck prototype</a:t>
            </a:r>
          </a:p>
          <a:p>
            <a:pPr marL="228600" indent="-101600">
              <a:spcAft>
                <a:spcPts val="700"/>
              </a:spcAft>
              <a:buChar char="•"/>
              <a:defRPr sz="1500">
                <a:solidFill>
                  <a:srgbClr val="1427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solidFill>
                  <a:srgbClr val="1427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Reproducible AI and rule pipeline</a:t>
            </a:r>
          </a:p>
          <a:p>
            <a:pPr marL="228600" indent="-101600">
              <a:spcAft>
                <a:spcPts val="700"/>
              </a:spcAft>
              <a:buChar char="•"/>
              <a:defRPr sz="1500">
                <a:solidFill>
                  <a:srgbClr val="1427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solidFill>
                  <a:srgbClr val="1427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Evaluation report and compliance review demo</a:t>
            </a:r>
          </a:p>
          <a:p>
            <a:pPr marL="228600" indent="-101600">
              <a:spcAft>
                <a:spcPts val="700"/>
              </a:spcAft>
              <a:buChar char="•"/>
              <a:defRPr sz="1500">
                <a:solidFill>
                  <a:srgbClr val="1427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>
                <a:solidFill>
                  <a:srgbClr val="1427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Final report and two five-minute videos</a:t>
            </a: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609600" y="6572250"/>
            <a:ext cx="5715000" cy="171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050" b="0">
                <a:solidFill>
                  <a:srgbClr val="5264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050" b="0">
              <a:solidFill>
                <a:srgbClr val="5264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340000"/>
            <a:ext cx="9500000" cy="3539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300" b="1">
                <a:solidFill>
                  <a:srgbClr val="0B1F33"/>
                </a:solidFill>
                <a:latin typeface="Microsoft YaHei"/>
              </a:defRPr>
            </a:pPr>
            <a:r>
              <a:rPr lang="en-US"/>
              <a:t>G</a:t>
            </a:r>
            <a:r>
              <a:rPr lang="en-US" altLang="zh-CN"/>
              <a:t>antt Chart</a:t>
            </a:r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798027"/>
            <a:ext cx="720000" cy="42000"/>
          </a:xfrm>
          <a:prstGeom prst="rect">
            <a:avLst/>
          </a:prstGeom>
          <a:solidFill>
            <a:srgbClr val="28B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000000" y="340000"/>
            <a:ext cx="600000" cy="40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2200" b="1">
                <a:solidFill>
                  <a:srgbClr val="28B8C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0703" y="930000"/>
            <a:ext cx="11664778" cy="5200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FD9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559600" y="1140000"/>
            <a:ext cx="8022800" cy="460000"/>
          </a:xfrm>
          <a:prstGeom prst="rect">
            <a:avLst/>
          </a:prstGeom>
          <a:solidFill>
            <a:srgbClr val="EA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9600" y="1230000"/>
            <a:ext cx="2750000" cy="30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2E6F9E"/>
                </a:solidFill>
                <a:latin typeface="Arial"/>
              </a:defRPr>
            </a:pPr>
            <a:r>
              <a:t>CORE WORKSTREAMS (WBS)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9600" y="1175000"/>
            <a:ext cx="1126114" cy="39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B1F33"/>
                </a:solidFill>
                <a:latin typeface="Arial"/>
              </a:defRPr>
            </a:pPr>
            <a:r>
              <a:t>W1</a:t>
            </a:r>
          </a:p>
          <a:p>
            <a:pPr algn="ctr">
              <a:defRPr sz="850">
                <a:solidFill>
                  <a:srgbClr val="526474"/>
                </a:solidFill>
                <a:latin typeface="Arial"/>
              </a:defRPr>
            </a:pPr>
            <a:r>
              <a:t>09.07 - 09.13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5714" y="1140000"/>
            <a:ext cx="12700" cy="4560000"/>
          </a:xfrm>
          <a:prstGeom prst="rect">
            <a:avLst/>
          </a:prstGeom>
          <a:solidFill>
            <a:srgbClr val="EA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15714" y="1175000"/>
            <a:ext cx="1126114" cy="39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B1F33"/>
                </a:solidFill>
                <a:latin typeface="Arial"/>
              </a:defRPr>
            </a:pPr>
            <a:r>
              <a:t>W2</a:t>
            </a:r>
          </a:p>
          <a:p>
            <a:pPr algn="ctr">
              <a:defRPr sz="850">
                <a:solidFill>
                  <a:srgbClr val="526474"/>
                </a:solidFill>
                <a:latin typeface="Arial"/>
              </a:defRPr>
            </a:pPr>
            <a:r>
              <a:t>09.14 - 09.20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1828" y="1140000"/>
            <a:ext cx="12700" cy="4560000"/>
          </a:xfrm>
          <a:prstGeom prst="rect">
            <a:avLst/>
          </a:prstGeom>
          <a:solidFill>
            <a:srgbClr val="EA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61828" y="1175000"/>
            <a:ext cx="1126114" cy="39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B1F33"/>
                </a:solidFill>
                <a:latin typeface="Arial"/>
              </a:defRPr>
            </a:pPr>
            <a:r>
              <a:t>W3</a:t>
            </a:r>
          </a:p>
          <a:p>
            <a:pPr algn="ctr">
              <a:defRPr sz="850">
                <a:solidFill>
                  <a:srgbClr val="526474"/>
                </a:solidFill>
                <a:latin typeface="Arial"/>
              </a:defRPr>
            </a:pPr>
            <a:r>
              <a:t>09.21 - 09.27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97942" y="1140000"/>
            <a:ext cx="12700" cy="4560000"/>
          </a:xfrm>
          <a:prstGeom prst="rect">
            <a:avLst/>
          </a:prstGeom>
          <a:solidFill>
            <a:srgbClr val="EA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07942" y="1175000"/>
            <a:ext cx="1126114" cy="39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B1F33"/>
                </a:solidFill>
                <a:latin typeface="Arial"/>
              </a:defRPr>
            </a:pPr>
            <a:r>
              <a:t>W4</a:t>
            </a:r>
          </a:p>
          <a:p>
            <a:pPr algn="ctr">
              <a:defRPr sz="850">
                <a:solidFill>
                  <a:srgbClr val="526474"/>
                </a:solidFill>
                <a:latin typeface="Arial"/>
              </a:defRPr>
            </a:pPr>
            <a:r>
              <a:t>09.28 - 10.04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44056" y="1140000"/>
            <a:ext cx="12700" cy="4560000"/>
          </a:xfrm>
          <a:prstGeom prst="rect">
            <a:avLst/>
          </a:prstGeom>
          <a:solidFill>
            <a:srgbClr val="EA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54056" y="1175000"/>
            <a:ext cx="1126114" cy="39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B1F33"/>
                </a:solidFill>
                <a:latin typeface="Arial"/>
              </a:defRPr>
            </a:pPr>
            <a:r>
              <a:t>W5</a:t>
            </a:r>
          </a:p>
          <a:p>
            <a:pPr algn="ctr">
              <a:defRPr sz="850">
                <a:solidFill>
                  <a:srgbClr val="526474"/>
                </a:solidFill>
                <a:latin typeface="Arial"/>
              </a:defRPr>
            </a:pPr>
            <a:r>
              <a:t>10.05 - 10.11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90170" y="1140000"/>
            <a:ext cx="12700" cy="4560000"/>
          </a:xfrm>
          <a:prstGeom prst="rect">
            <a:avLst/>
          </a:prstGeom>
          <a:solidFill>
            <a:srgbClr val="EA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00170" y="1175000"/>
            <a:ext cx="1126114" cy="39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B1F33"/>
                </a:solidFill>
                <a:latin typeface="Arial"/>
              </a:defRPr>
            </a:pPr>
            <a:r>
              <a:t>W6</a:t>
            </a:r>
          </a:p>
          <a:p>
            <a:pPr algn="ctr">
              <a:defRPr sz="850">
                <a:solidFill>
                  <a:srgbClr val="526474"/>
                </a:solidFill>
                <a:latin typeface="Arial"/>
              </a:defRPr>
            </a:pPr>
            <a:r>
              <a:t>10.12 - 10.18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36284" y="1140000"/>
            <a:ext cx="12700" cy="4560000"/>
          </a:xfrm>
          <a:prstGeom prst="rect">
            <a:avLst/>
          </a:prstGeom>
          <a:solidFill>
            <a:srgbClr val="EAE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446284" y="1175000"/>
            <a:ext cx="1126114" cy="39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100" b="1">
                <a:solidFill>
                  <a:srgbClr val="0B1F33"/>
                </a:solidFill>
                <a:latin typeface="Arial"/>
              </a:defRPr>
            </a:pPr>
            <a:r>
              <a:t>W7</a:t>
            </a:r>
          </a:p>
          <a:p>
            <a:pPr algn="ctr">
              <a:defRPr sz="850">
                <a:solidFill>
                  <a:srgbClr val="526474"/>
                </a:solidFill>
                <a:latin typeface="Arial"/>
              </a:defRPr>
            </a:pPr>
            <a:r>
              <a:t>10.19 - 10.25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9600" y="1690000"/>
            <a:ext cx="2710000" cy="8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B1F33"/>
                </a:solidFill>
                <a:latin typeface="Arial"/>
              </a:defRPr>
            </a:pPr>
            <a:r>
              <a:t>1. Data Engineering &amp; Grounding</a:t>
            </a:r>
          </a:p>
          <a:p>
            <a:pPr>
              <a:defRPr sz="850">
                <a:solidFill>
                  <a:srgbClr val="526474"/>
                </a:solidFill>
                <a:latin typeface="Arial"/>
              </a:defRPr>
            </a:pPr>
            <a:r>
              <a:t>Baselines, Annotation Guidelines &amp; Strict Split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79600" y="1650000"/>
            <a:ext cx="2252228" cy="278000"/>
          </a:xfrm>
          <a:prstGeom prst="roundRect">
            <a:avLst/>
          </a:prstGeom>
          <a:solidFill>
            <a:srgbClr val="0D9488"/>
          </a:solidFill>
          <a:ln w="10160">
            <a:solidFill>
              <a:srgbClr val="115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0000" tIns="0" rIns="30000" bIns="0" rtlCol="0" anchor="ctr"/>
          <a:lstStyle/>
          <a:p>
            <a:pPr algn="l">
              <a:defRPr sz="800" b="1">
                <a:solidFill>
                  <a:srgbClr val="FFFFFF"/>
                </a:solidFill>
                <a:latin typeface="Arial"/>
              </a:defRPr>
            </a:pPr>
            <a:r>
              <a:t>CUAD / ContractNLI Baseline Setup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54936" y="1950000"/>
            <a:ext cx="2023005" cy="278000"/>
          </a:xfrm>
          <a:prstGeom prst="roundRect">
            <a:avLst/>
          </a:prstGeom>
          <a:solidFill>
            <a:srgbClr val="0D9488"/>
          </a:solidFill>
          <a:ln w="10160">
            <a:solidFill>
              <a:srgbClr val="115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0000" tIns="0" rIns="30000" bIns="0" rtlCol="0" anchor="ctr"/>
          <a:lstStyle/>
          <a:p>
            <a:pPr algn="l">
              <a:defRPr sz="800" b="1">
                <a:solidFill>
                  <a:srgbClr val="FFFFFF"/>
                </a:solidFill>
                <a:latin typeface="Arial"/>
              </a:defRPr>
            </a:pPr>
            <a:r>
              <a:t>Gold Testbed (30-50 pairs) &amp; Split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01050" y="2250000"/>
            <a:ext cx="2023005" cy="278000"/>
          </a:xfrm>
          <a:prstGeom prst="roundRect">
            <a:avLst/>
          </a:prstGeom>
          <a:solidFill>
            <a:srgbClr val="0D9488"/>
          </a:solidFill>
          <a:ln w="10160">
            <a:solidFill>
              <a:srgbClr val="115E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0000" tIns="0" rIns="30000" bIns="0" rtlCol="0" anchor="ctr"/>
          <a:lstStyle/>
          <a:p>
            <a:pPr algn="l">
              <a:defRPr sz="800" b="1">
                <a:solidFill>
                  <a:srgbClr val="FFFFFF"/>
                </a:solidFill>
                <a:latin typeface="Arial"/>
              </a:defRPr>
            </a:pPr>
            <a:r>
              <a:t>Hard-Example Stress Cases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600" y="2570000"/>
            <a:ext cx="10892800" cy="9320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9600" y="2640000"/>
            <a:ext cx="2710000" cy="8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B1F33"/>
                </a:solidFill>
                <a:latin typeface="Arial"/>
              </a:defRPr>
            </a:pPr>
            <a:r>
              <a:t>2. Core Reasoning Pipeline</a:t>
            </a:r>
          </a:p>
          <a:p>
            <a:pPr>
              <a:defRPr sz="850">
                <a:solidFill>
                  <a:srgbClr val="526474"/>
                </a:solidFill>
                <a:latin typeface="Arial"/>
              </a:defRPr>
            </a:pPr>
            <a:r>
              <a:t>KD Clause Classifier, Dynamic Bid RAG &amp; Rules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98771" y="2600000"/>
            <a:ext cx="1908393" cy="278000"/>
          </a:xfrm>
          <a:prstGeom prst="roundRect">
            <a:avLst/>
          </a:prstGeom>
          <a:solidFill>
            <a:srgbClr val="1D4ED8"/>
          </a:solidFill>
          <a:ln w="1016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0000" tIns="0" rIns="30000" bIns="0" rtlCol="0" anchor="ctr"/>
          <a:lstStyle/>
          <a:p>
            <a:pPr algn="l">
              <a:defRPr sz="800" b="1">
                <a:solidFill>
                  <a:srgbClr val="FFFFFF"/>
                </a:solidFill>
                <a:latin typeface="Arial"/>
              </a:defRPr>
            </a:pPr>
            <a:r>
              <a:t>Clause Classifier (TF-IDF / Emb)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44885" y="2900000"/>
            <a:ext cx="1908393" cy="278000"/>
          </a:xfrm>
          <a:prstGeom prst="roundRect">
            <a:avLst/>
          </a:prstGeom>
          <a:solidFill>
            <a:srgbClr val="1D4ED8"/>
          </a:solidFill>
          <a:ln w="1016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0000" tIns="0" rIns="30000" bIns="0" rtlCol="0" anchor="ctr"/>
          <a:lstStyle/>
          <a:p>
            <a:pPr algn="l">
              <a:defRPr sz="800" b="1">
                <a:solidFill>
                  <a:srgbClr val="FFFFFF"/>
                </a:solidFill>
                <a:latin typeface="Arial"/>
              </a:defRPr>
            </a:pPr>
            <a:r>
              <a:t>Dynamic Bid RAG &amp; Extraction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44885" y="3200000"/>
            <a:ext cx="2596062" cy="278000"/>
          </a:xfrm>
          <a:prstGeom prst="roundRect">
            <a:avLst/>
          </a:prstGeom>
          <a:solidFill>
            <a:srgbClr val="1D4ED8"/>
          </a:solidFill>
          <a:ln w="1016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0000" tIns="0" rIns="30000" bIns="0" rtlCol="0" anchor="ctr"/>
          <a:lstStyle/>
          <a:p>
            <a:pPr algn="l">
              <a:defRPr sz="800" b="1">
                <a:solidFill>
                  <a:srgbClr val="FFFFFF"/>
                </a:solidFill>
                <a:latin typeface="Arial"/>
              </a:defRPr>
            </a:pPr>
            <a:r>
              <a:t>Deterministic Symbolic Rule Engine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9600" y="3590000"/>
            <a:ext cx="2710000" cy="8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B1F33"/>
                </a:solidFill>
                <a:latin typeface="Arial"/>
              </a:defRPr>
            </a:pPr>
            <a:r>
              <a:t>3. System Integration &amp; UI</a:t>
            </a:r>
          </a:p>
          <a:p>
            <a:pPr>
              <a:defRPr sz="850">
                <a:solidFill>
                  <a:srgbClr val="526474"/>
                </a:solidFill>
                <a:latin typeface="Arial"/>
              </a:defRPr>
            </a:pPr>
            <a:r>
              <a:t>Dual-Pane Review Workspace &amp; KB Remediation Loop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88719" y="3550000"/>
            <a:ext cx="2481450" cy="278000"/>
          </a:xfrm>
          <a:prstGeom prst="roundRect">
            <a:avLst/>
          </a:prstGeom>
          <a:solidFill>
            <a:srgbClr val="0284C7"/>
          </a:solidFill>
          <a:ln w="1016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0000" tIns="0" rIns="30000" bIns="0" rtlCol="0" anchor="ctr"/>
          <a:lstStyle/>
          <a:p>
            <a:pPr algn="l">
              <a:defRPr sz="800" b="1">
                <a:solidFill>
                  <a:srgbClr val="FFFFFF"/>
                </a:solidFill>
                <a:latin typeface="Arial"/>
              </a:defRPr>
            </a:pPr>
            <a:r>
              <a:t>Streamlit Dual-Pane Workspace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90999" y="3850000"/>
            <a:ext cx="1908393" cy="278000"/>
          </a:xfrm>
          <a:prstGeom prst="roundRect">
            <a:avLst/>
          </a:prstGeom>
          <a:solidFill>
            <a:srgbClr val="0284C7"/>
          </a:solidFill>
          <a:ln w="1016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0000" tIns="0" rIns="30000" bIns="0" rtlCol="0" anchor="ctr"/>
          <a:lstStyle/>
          <a:p>
            <a:pPr algn="l">
              <a:defRPr sz="800" b="1">
                <a:solidFill>
                  <a:srgbClr val="FFFFFF"/>
                </a:solidFill>
                <a:latin typeface="Arial"/>
              </a:defRPr>
            </a:pPr>
            <a:r>
              <a:t>Enterprise KB Remediation Loop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37113" y="4150000"/>
            <a:ext cx="1449948" cy="278000"/>
          </a:xfrm>
          <a:prstGeom prst="roundRect">
            <a:avLst/>
          </a:prstGeom>
          <a:solidFill>
            <a:srgbClr val="0284C7"/>
          </a:solidFill>
          <a:ln w="1016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0000" tIns="0" rIns="30000" bIns="0" rtlCol="0" anchor="ctr"/>
          <a:lstStyle/>
          <a:p>
            <a:pPr algn="l">
              <a:defRPr sz="800" b="1">
                <a:solidFill>
                  <a:srgbClr val="FFFFFF"/>
                </a:solidFill>
                <a:latin typeface="Arial"/>
              </a:defRPr>
            </a:pPr>
            <a:r>
              <a:t>Compliance Matrix Export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600" y="4470000"/>
            <a:ext cx="10892800" cy="932000"/>
          </a:xfrm>
          <a:prstGeom prst="rect">
            <a:avLst/>
          </a:prstGeom>
          <a:solidFill>
            <a:srgbClr val="F9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69600" y="4540000"/>
            <a:ext cx="2710000" cy="85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B1F33"/>
                </a:solidFill>
                <a:latin typeface="Arial"/>
              </a:defRPr>
            </a:pPr>
            <a:r>
              <a:t>4. Validation, Evaluation &amp; Delivery</a:t>
            </a:r>
          </a:p>
          <a:p>
            <a:pPr>
              <a:defRPr sz="850">
                <a:solidFill>
                  <a:srgbClr val="526474"/>
                </a:solidFill>
                <a:latin typeface="Arial"/>
              </a:defRPr>
            </a:pPr>
            <a:r>
              <a:t>Ablation Study, Technical Report &amp; Video Demos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93278" y="4500000"/>
            <a:ext cx="2023005" cy="278000"/>
          </a:xfrm>
          <a:prstGeom prst="roundRect">
            <a:avLst/>
          </a:prstGeom>
          <a:solidFill>
            <a:srgbClr val="4F46E5"/>
          </a:solidFill>
          <a:ln w="10160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0000" tIns="0" rIns="30000" bIns="0" rtlCol="0" anchor="ctr"/>
          <a:lstStyle/>
          <a:p>
            <a:pPr algn="l">
              <a:defRPr sz="800" b="1">
                <a:solidFill>
                  <a:srgbClr val="FFFFFF"/>
                </a:solidFill>
                <a:latin typeface="Arial"/>
              </a:defRPr>
            </a:pPr>
            <a:r>
              <a:t>Ablation Study (Rules vs Hybrid)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310170" y="4800000"/>
            <a:ext cx="2252228" cy="278000"/>
          </a:xfrm>
          <a:prstGeom prst="roundRect">
            <a:avLst/>
          </a:prstGeom>
          <a:solidFill>
            <a:srgbClr val="4F46E5"/>
          </a:solidFill>
          <a:ln w="10160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0000" tIns="0" rIns="30000" bIns="0" rtlCol="0" anchor="ctr"/>
          <a:lstStyle/>
          <a:p>
            <a:pPr algn="l">
              <a:defRPr sz="800" b="1">
                <a:solidFill>
                  <a:srgbClr val="FFFFFF"/>
                </a:solidFill>
                <a:latin typeface="Arial"/>
              </a:defRPr>
            </a:pPr>
            <a:r>
              <a:t>Final Technical Project Report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456284" y="5100000"/>
            <a:ext cx="1106114" cy="278000"/>
          </a:xfrm>
          <a:prstGeom prst="roundRect">
            <a:avLst/>
          </a:prstGeom>
          <a:solidFill>
            <a:srgbClr val="4F46E5"/>
          </a:solidFill>
          <a:ln w="10160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60000" tIns="0" rIns="30000" bIns="0" rtlCol="0" anchor="ctr"/>
          <a:lstStyle/>
          <a:p>
            <a:pPr algn="l">
              <a:defRPr sz="800" b="1">
                <a:solidFill>
                  <a:srgbClr val="FFFFFF"/>
                </a:solidFill>
                <a:latin typeface="Arial"/>
              </a:defRPr>
            </a:pPr>
            <a:r>
              <a:t>2x 5-Min Video Demos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9600" y="5435000"/>
            <a:ext cx="10892800" cy="430000"/>
          </a:xfrm>
          <a:prstGeom prst="rect">
            <a:avLst/>
          </a:prstGeom>
          <a:solidFill>
            <a:srgbClr val="EE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69600" y="5545000"/>
            <a:ext cx="2710000" cy="27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 b="1">
                <a:solidFill>
                  <a:srgbClr val="2E6F9E"/>
                </a:solidFill>
                <a:latin typeface="Arial"/>
              </a:defRPr>
            </a:pPr>
            <a:r>
              <a:t>KEY CHECKPOINTS &amp; GATES</a:t>
            </a:r>
          </a:p>
        </p:txBody>
      </p:sp>
      <p:sp>
        <p:nvSpPr>
          <p:cNvPr id="41" name="Diamond 40"/>
          <p:cNvSpPr/>
          <p:nvPr/>
        </p:nvSpPr>
        <p:spPr>
          <a:xfrm>
            <a:off x="5791828" y="5485000"/>
            <a:ext cx="120000" cy="120000"/>
          </a:xfrm>
          <a:prstGeom prst="diamond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401828" y="5625000"/>
            <a:ext cx="750000" cy="21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50" b="1">
                <a:solidFill>
                  <a:srgbClr val="DC2626"/>
                </a:solidFill>
                <a:latin typeface="Arial"/>
              </a:defRPr>
            </a:pPr>
            <a:r>
              <a:t>CP1 (09.20)</a:t>
            </a:r>
            <a:br/>
            <a:r>
              <a:t>Data Go/No-Go Review</a:t>
            </a:r>
          </a:p>
        </p:txBody>
      </p:sp>
      <p:sp>
        <p:nvSpPr>
          <p:cNvPr id="43" name="Diamond 42"/>
          <p:cNvSpPr/>
          <p:nvPr/>
        </p:nvSpPr>
        <p:spPr>
          <a:xfrm>
            <a:off x="8084056" y="5485000"/>
            <a:ext cx="120000" cy="120000"/>
          </a:xfrm>
          <a:prstGeom prst="diamond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694056" y="5625000"/>
            <a:ext cx="750000" cy="21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50" b="1">
                <a:solidFill>
                  <a:srgbClr val="DC2626"/>
                </a:solidFill>
                <a:latin typeface="Arial"/>
              </a:defRPr>
            </a:pPr>
            <a:r>
              <a:t>CP2 (10.04)</a:t>
            </a:r>
            <a:br/>
            <a:r>
              <a:t>Scope Freeze</a:t>
            </a:r>
          </a:p>
        </p:txBody>
      </p:sp>
      <p:sp>
        <p:nvSpPr>
          <p:cNvPr id="45" name="Diamond 44"/>
          <p:cNvSpPr/>
          <p:nvPr/>
        </p:nvSpPr>
        <p:spPr>
          <a:xfrm>
            <a:off x="9230170" y="5485000"/>
            <a:ext cx="120000" cy="120000"/>
          </a:xfrm>
          <a:prstGeom prst="diamond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840170" y="5625000"/>
            <a:ext cx="750000" cy="21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50" b="1">
                <a:solidFill>
                  <a:srgbClr val="2563EB"/>
                </a:solidFill>
                <a:latin typeface="Arial"/>
              </a:defRPr>
            </a:pPr>
            <a:r>
              <a:t>CP3 (10.11)</a:t>
            </a:r>
            <a:br/>
            <a:r>
              <a:t>Alpha Pipeline Run</a:t>
            </a:r>
          </a:p>
        </p:txBody>
      </p:sp>
      <p:sp>
        <p:nvSpPr>
          <p:cNvPr id="47" name="Diamond 46"/>
          <p:cNvSpPr/>
          <p:nvPr/>
        </p:nvSpPr>
        <p:spPr>
          <a:xfrm>
            <a:off x="10376284" y="5485000"/>
            <a:ext cx="120000" cy="120000"/>
          </a:xfrm>
          <a:prstGeom prst="diamond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836284" y="5625000"/>
            <a:ext cx="750000" cy="21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750" b="1">
                <a:solidFill>
                  <a:srgbClr val="DC2626"/>
                </a:solidFill>
                <a:latin typeface="Arial"/>
              </a:defRPr>
            </a:pPr>
            <a:r>
              <a:t>CP4 (10.18)</a:t>
            </a:r>
            <a:br/>
            <a:r>
              <a:t>Code Freeze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682398" y="5485000"/>
            <a:ext cx="880000" cy="330000"/>
          </a:xfrm>
          <a:prstGeom prst="roundRect">
            <a:avLst/>
          </a:prstGeom>
          <a:solidFill>
            <a:srgbClr val="0B1F33"/>
          </a:solidFill>
          <a:ln w="15240">
            <a:solidFill>
              <a:srgbClr val="28B8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750" b="1">
                <a:solidFill>
                  <a:srgbClr val="28B8CF"/>
                </a:solidFill>
                <a:latin typeface="Arial"/>
              </a:defRPr>
            </a:pPr>
            <a:r>
              <a:t>FINAL SUBMISSION</a:t>
            </a:r>
            <a:br/>
            <a:r>
              <a:t>25 OCT 23:59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09600" y="5970000"/>
            <a:ext cx="90000" cy="900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129600" y="5950000"/>
            <a:ext cx="1600000" cy="18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>
                <a:solidFill>
                  <a:srgbClr val="526474"/>
                </a:solidFill>
                <a:latin typeface="Arial"/>
              </a:defRPr>
            </a:pPr>
            <a:r>
              <a:t>Data &amp; Grounding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779600" y="5970000"/>
            <a:ext cx="90000" cy="90000"/>
          </a:xfrm>
          <a:prstGeom prst="round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899600" y="5950000"/>
            <a:ext cx="1600000" cy="18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>
                <a:solidFill>
                  <a:srgbClr val="526474"/>
                </a:solidFill>
                <a:latin typeface="Arial"/>
              </a:defRPr>
            </a:pPr>
            <a:r>
              <a:t>Core Reasoning Pipeline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49600" y="5970000"/>
            <a:ext cx="90000" cy="9000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669600" y="5950000"/>
            <a:ext cx="1600000" cy="18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>
                <a:solidFill>
                  <a:srgbClr val="526474"/>
                </a:solidFill>
                <a:latin typeface="Arial"/>
              </a:defRPr>
            </a:pPr>
            <a:r>
              <a:t>System Integration &amp; UI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319600" y="5970000"/>
            <a:ext cx="90000" cy="9000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439600" y="5950000"/>
            <a:ext cx="1600000" cy="18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>
                <a:solidFill>
                  <a:srgbClr val="526474"/>
                </a:solidFill>
                <a:latin typeface="Arial"/>
              </a:defRPr>
            </a:pPr>
            <a:r>
              <a:t>Validation &amp; Delivery</a:t>
            </a:r>
          </a:p>
        </p:txBody>
      </p:sp>
      <p:sp>
        <p:nvSpPr>
          <p:cNvPr id="58" name="Diamond 57"/>
          <p:cNvSpPr/>
          <p:nvPr/>
        </p:nvSpPr>
        <p:spPr>
          <a:xfrm>
            <a:off x="8089600" y="5970000"/>
            <a:ext cx="90000" cy="90000"/>
          </a:xfrm>
          <a:prstGeom prst="diamond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209600" y="5950000"/>
            <a:ext cx="1600000" cy="1800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>
                <a:solidFill>
                  <a:srgbClr val="526474"/>
                </a:solidFill>
                <a:latin typeface="Arial"/>
              </a:defRPr>
            </a:pPr>
            <a:r>
              <a:t>Decision Gate (Checkpoint)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827">
              <a:alpha val="85098"/>
            </a:srgbClr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762000" y="2637155"/>
            <a:ext cx="590550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5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Thank You</a:t>
            </a:r>
          </a:p>
        </p:txBody>
      </p:sp>
      <p:sp>
        <p:nvSpPr>
          <p:cNvPr id="5" name="直接连接符 4"/>
          <p:cNvSpPr>
            <a:spLocks noGrp="1"/>
          </p:cNvSpPr>
          <p:nvPr/>
        </p:nvSpPr>
        <p:spPr>
          <a:xfrm>
            <a:off x="800100" y="3657600"/>
            <a:ext cx="4762500" cy="0"/>
          </a:xfrm>
          <a:prstGeom prst="line">
            <a:avLst/>
          </a:prstGeom>
          <a:noFill/>
          <a:ln w="28575">
            <a:solidFill>
              <a:srgbClr val="28B8CF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00100" y="4149090"/>
            <a:ext cx="28575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TenderCheck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00100" y="4653280"/>
            <a:ext cx="49530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0">
                <a:solidFill>
                  <a:srgbClr val="C7D9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C7D9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Evidence-based tender compliance review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6,&quot;left&quot;:51,&quot;top&quot;:156,&quot;width&quot;:816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6,&quot;left&quot;:51,&quot;top&quot;:156,&quot;width&quot;:816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6,&quot;left&quot;:51,&quot;top&quot;:156,&quot;width&quot;:816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6,&quot;left&quot;:51,&quot;top&quot;:156,&quot;width&quot;:816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6,&quot;left&quot;:51,&quot;top&quot;:156,&quot;width&quot;:816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6,&quot;left&quot;:51,&quot;top&quot;:156,&quot;width&quot;:816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6,&quot;left&quot;:51,&quot;top&quot;:156,&quot;width&quot;:816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6,&quot;left&quot;:51,&quot;top&quot;:156,&quot;width&quot;:816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6,&quot;left&quot;:51,&quot;top&quot;:156,&quot;width&quot;:816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6,&quot;left&quot;:51,&quot;top&quot;:156,&quot;width&quot;:816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6,&quot;left&quot;:51,&quot;top&quot;:156,&quot;width&quot;:816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6,&quot;left&quot;:51,&quot;top&quot;:156,&quot;width&quot;:816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6,&quot;left&quot;:51,&quot;top&quot;:156,&quot;width&quot;:816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6,&quot;left&quot;:51,&quot;top&quot;:156,&quot;width&quot;:816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6,&quot;left&quot;:51,&quot;top&quot;:156,&quot;width&quot;:816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</TotalTime>
  <Words>1555</Words>
  <Application>Microsoft Office PowerPoint</Application>
  <PresentationFormat>宽屏</PresentationFormat>
  <Paragraphs>202</Paragraphs>
  <Slides>9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4" baseType="lpstr">
      <vt:lpstr>system-ui</vt:lpstr>
      <vt:lpstr>微软雅黑</vt:lpstr>
      <vt:lpstr>Arial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1220007334@student.must.edu.mo</cp:lastModifiedBy>
  <cp:revision>8</cp:revision>
  <dcterms:created xsi:type="dcterms:W3CDTF">2026-09-07T07:25:00Z</dcterms:created>
  <dcterms:modified xsi:type="dcterms:W3CDTF">2026-09-12T13:45:47Z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14BAE7936C9649E79ED6E0C1F9138337_13</vt:lpwstr>
  </property>
</Properties>
</file>